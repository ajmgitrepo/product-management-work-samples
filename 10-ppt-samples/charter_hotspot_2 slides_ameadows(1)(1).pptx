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69515" autoAdjust="0"/>
  </p:normalViewPr>
  <p:slideViewPr>
    <p:cSldViewPr snapToGrid="0">
      <p:cViewPr varScale="1">
        <p:scale>
          <a:sx n="120" d="100"/>
          <a:sy n="120" d="100"/>
        </p:scale>
        <p:origin x="16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FFF8B-FD55-4E94-95F1-DDE9396111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4B4A-ED71-4CA2-8B59-CCD8F5ED6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7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Carrier Partnerships: 1.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Partnership synergy through </a:t>
            </a:r>
            <a:r>
              <a:rPr lang="en-US" dirty="0" smtClean="0"/>
              <a:t>Collaboration with MNOs can drive shared resources and open avenues for co-marketing, enhancing revenue opportunities </a:t>
            </a:r>
            <a:r>
              <a:rPr lang="en-US" b="1" dirty="0" smtClean="0"/>
              <a:t>2</a:t>
            </a:r>
            <a:r>
              <a:rPr lang="en-US" dirty="0" smtClean="0"/>
              <a:t>. </a:t>
            </a:r>
            <a:r>
              <a:rPr lang="en-US" b="1" dirty="0" smtClean="0"/>
              <a:t>Data-driven</a:t>
            </a:r>
            <a:r>
              <a:rPr lang="en-US" b="1" baseline="0" dirty="0" smtClean="0"/>
              <a:t> strategy </a:t>
            </a:r>
            <a:r>
              <a:rPr lang="en-US" dirty="0" smtClean="0"/>
              <a:t>Using analytics lets us strategically offload and offer premium services during high-demand times, with the goal of optimizing revenue </a:t>
            </a:r>
            <a:r>
              <a:rPr lang="en-US" b="1" dirty="0" smtClean="0"/>
              <a:t>3.</a:t>
            </a:r>
            <a:r>
              <a:rPr lang="en-US" dirty="0" smtClean="0"/>
              <a:t> Using</a:t>
            </a:r>
            <a:r>
              <a:rPr lang="en-US" baseline="0" dirty="0" smtClean="0"/>
              <a:t> network reliability as a differentiator to attract premium partnerships, leading to exclusive deals and revenue growth opportunities.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Wifi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Roaming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: 1. Roaming enabled by HS2.0 can help ensure a seamless experience, users can enjoy consistent connectivity across various partner networks which certainly enhances customer satisfaction. 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2.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I think a cost effective solution using competitive pricing could not only attract more users  but also offer them high value and position Charter more favorably in the market. 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3.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Expand Carter’s footprint through network partnerships that ensure users have widespread access, which would amplify their market presence and reach.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User engagement: 1.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User-centric connectivity with streamlined logins and swift connections ensure users have an uninterrupted and hassle-free experience 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2.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Build trust through security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,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a transparent security policy demonstrating our commitment to user safety on our networks can solidify trust and encourage sustained usage.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3.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Adding value-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drve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incentives through loyalty programs or bundled services can help reduce churn and attract new customers to fuel growth.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Location &amp; Services: 1. </a:t>
            </a:r>
            <a:r>
              <a:rPr lang="en-US" dirty="0" smtClean="0"/>
              <a:t>Leveraging real-time location data allows us to serve ads that resonate with users' immediate contexts, increasing engagement and conversion rates </a:t>
            </a:r>
            <a:r>
              <a:rPr lang="en-US" b="1" dirty="0" smtClean="0"/>
              <a:t>2. </a:t>
            </a:r>
            <a:r>
              <a:rPr lang="en-US" b="0" dirty="0" smtClean="0"/>
              <a:t>Tailoring offers to users on the move or during offloading can maintain relevance and enhance user receptivity and potential uptake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	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3.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Positioning ads in high-traffic areas guarantees greater visibility, driving more impressions and higher potential for user engagement.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Subscription Models: 1. 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Targeted packages ensure every user, regardless of their usage patterns, finds value in the service…this can lead to increased subscriptions and customer satisfaction  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2. </a:t>
            </a:r>
            <a:r>
              <a:rPr lang="en-US" dirty="0" smtClean="0"/>
              <a:t>Recognizing the unique needs of businesses, develop plans to guarantee uninterrupted connectivity, facilitating smoother operations and enhancing business-client relations </a:t>
            </a:r>
            <a:r>
              <a:rPr lang="en-US" b="1" dirty="0" smtClean="0"/>
              <a:t>3. </a:t>
            </a:r>
            <a:r>
              <a:rPr lang="en-US" dirty="0" smtClean="0"/>
              <a:t>Staying attuned to user behavior and preferences allows refinement and innovation to offerings, ensuring sustained relevance and value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Partnerships &amp; Expansions 1. </a:t>
            </a:r>
            <a:r>
              <a:rPr lang="en-US" dirty="0" smtClean="0"/>
              <a:t>By integrating shopping opportunities tailored to a user's location or activity, we not only provide convenience but also open avenues for partnership with retailers and e-commerce platforms </a:t>
            </a:r>
            <a:r>
              <a:rPr lang="en-US" b="1" dirty="0" smtClean="0"/>
              <a:t>2. </a:t>
            </a:r>
            <a:r>
              <a:rPr lang="en-US" dirty="0" smtClean="0"/>
              <a:t>Prioritized services for businesses ensure seamless operations, making our offerings indispensable for corporate clients, leading to robust partnerships </a:t>
            </a:r>
            <a:r>
              <a:rPr lang="en-US" b="1" dirty="0" smtClean="0"/>
              <a:t>3. </a:t>
            </a:r>
            <a:r>
              <a:rPr lang="en-US" dirty="0" smtClean="0"/>
              <a:t>Affiliate marketing allows us to tap into diverse audiences and markets, fostering growth and establishing a widespread presence through strategic collaborations.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Infrastructure &amp; Tech Advancement: 1.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 Future proof the infrastructure by proactively updating hardware to ensure stability and scalability to meet the demands of a growing user base 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2. </a:t>
            </a:r>
            <a:r>
              <a:rPr lang="en-US" dirty="0" smtClean="0"/>
              <a:t>Regular software optimization guarantees peak performance, efficient resource usage, and the ability to swiftly adapt to changing network conditions </a:t>
            </a:r>
            <a:r>
              <a:rPr lang="en-US" b="1" dirty="0" smtClean="0"/>
              <a:t>3. </a:t>
            </a:r>
            <a:r>
              <a:rPr lang="en-US" b="0" dirty="0" smtClean="0"/>
              <a:t>Keep a pulse on emerging tech</a:t>
            </a:r>
            <a:r>
              <a:rPr lang="en-US" b="0" baseline="0" dirty="0" smtClean="0"/>
              <a:t> trends and proactively adapt and innovate to remain at the forefront of </a:t>
            </a:r>
            <a:r>
              <a:rPr lang="en-US" b="0" baseline="0" dirty="0" err="1" smtClean="0"/>
              <a:t>WiFI</a:t>
            </a:r>
            <a:r>
              <a:rPr lang="en-US" b="0" baseline="0" dirty="0" smtClean="0"/>
              <a:t> technology</a:t>
            </a: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Future Innovation: 1. </a:t>
            </a:r>
            <a:r>
              <a:rPr lang="en-US" dirty="0" smtClean="0"/>
              <a:t>Utilizing real-time and historical data, can identify patterns, pain points, and opportunities, ensuring users/networked</a:t>
            </a:r>
            <a:r>
              <a:rPr lang="en-US" baseline="0" dirty="0" smtClean="0"/>
              <a:t> venues </a:t>
            </a:r>
            <a:r>
              <a:rPr lang="en-US" dirty="0" smtClean="0"/>
              <a:t>receive the most streamlined experience possible during offloading and roaming </a:t>
            </a:r>
            <a:r>
              <a:rPr lang="en-US" b="1" dirty="0" smtClean="0"/>
              <a:t>2. </a:t>
            </a:r>
            <a:r>
              <a:rPr lang="en-US" dirty="0" smtClean="0"/>
              <a:t>Offering sponsored access in key areas creates a value proposition for both businesses and users (i.e.,</a:t>
            </a:r>
            <a:r>
              <a:rPr lang="en-US" baseline="0" dirty="0" smtClean="0"/>
              <a:t> more traffic for the business and reliable connectivity for the users) </a:t>
            </a:r>
            <a:r>
              <a:rPr lang="en-US" b="1" baseline="0" dirty="0" smtClean="0"/>
              <a:t>3. </a:t>
            </a:r>
            <a:r>
              <a:rPr lang="en-US" b="0" baseline="0" dirty="0" smtClean="0"/>
              <a:t>Beyond access fees, introducing complementary services and features can enable tapping into new revenue sources while enhancing overall user satisfaction.</a:t>
            </a:r>
            <a:endParaRPr kumimoji="0" 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CE4B4A-ED71-4CA2-8B59-CCD8F5ED6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7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2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4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4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2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9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3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6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9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7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8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5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BB285-87F2-4BB7-BB8E-83C3E12E270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4D4E2-EC03-4DFA-974D-A16C173C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1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8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67487"/>
            <a:ext cx="12192000" cy="29051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76;p10"/>
          <p:cNvSpPr>
            <a:spLocks/>
          </p:cNvSpPr>
          <p:nvPr/>
        </p:nvSpPr>
        <p:spPr>
          <a:xfrm>
            <a:off x="457199" y="1548173"/>
            <a:ext cx="365760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9D8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26" name="Google Shape;77;p10"/>
          <p:cNvSpPr/>
          <p:nvPr/>
        </p:nvSpPr>
        <p:spPr>
          <a:xfrm>
            <a:off x="4206240" y="1549407"/>
            <a:ext cx="365760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>
              <a:lnSpc>
                <a:spcPct val="115000"/>
              </a:lnSpc>
              <a:buClr>
                <a:srgbClr val="000000"/>
              </a:buClr>
              <a:defRPr/>
            </a:pPr>
            <a:endParaRPr lang="en-US" sz="1400" kern="0" dirty="0">
              <a:solidFill>
                <a:srgbClr val="001021"/>
              </a:solidFill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27" name="Google Shape;78;p10"/>
          <p:cNvSpPr/>
          <p:nvPr/>
        </p:nvSpPr>
        <p:spPr>
          <a:xfrm>
            <a:off x="457199" y="815450"/>
            <a:ext cx="3657600" cy="605700"/>
          </a:xfrm>
          <a:prstGeom prst="round1Rect">
            <a:avLst>
              <a:gd name="adj" fmla="val 50000"/>
            </a:avLst>
          </a:prstGeom>
          <a:solidFill>
            <a:srgbClr val="A9D8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28" name="Google Shape;79;p10"/>
          <p:cNvSpPr/>
          <p:nvPr/>
        </p:nvSpPr>
        <p:spPr>
          <a:xfrm>
            <a:off x="4206240" y="815450"/>
            <a:ext cx="3657600" cy="605700"/>
          </a:xfrm>
          <a:prstGeom prst="round1Rect">
            <a:avLst>
              <a:gd name="adj" fmla="val 50000"/>
            </a:avLst>
          </a:prstGeom>
          <a:solidFill>
            <a:srgbClr val="B3D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29" name="Google Shape;80;p10"/>
          <p:cNvSpPr txBox="1">
            <a:spLocks/>
          </p:cNvSpPr>
          <p:nvPr/>
        </p:nvSpPr>
        <p:spPr>
          <a:xfrm>
            <a:off x="311700" y="91288"/>
            <a:ext cx="87918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ato Black"/>
              <a:buNone/>
              <a:defRPr sz="1600" b="0" i="0" u="none" strike="noStrike" cap="non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lvl="0">
              <a:buClr>
                <a:srgbClr val="001021"/>
              </a:buClr>
            </a:pPr>
            <a:r>
              <a:rPr lang="en-US" sz="2000" b="1" i="1" kern="0" dirty="0">
                <a:solidFill>
                  <a:srgbClr val="001021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Monetizing </a:t>
            </a:r>
            <a:r>
              <a:rPr lang="en-US" sz="2000" b="1" i="1" kern="0" dirty="0" smtClean="0">
                <a:solidFill>
                  <a:srgbClr val="001021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Hotspot 2.0: </a:t>
            </a:r>
            <a:r>
              <a:rPr lang="en-US" sz="2000" b="1" i="1" kern="0" dirty="0">
                <a:solidFill>
                  <a:srgbClr val="001021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The Value Proposition</a:t>
            </a: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 Black"/>
            </a:endParaRPr>
          </a:p>
        </p:txBody>
      </p:sp>
      <p:pic>
        <p:nvPicPr>
          <p:cNvPr id="30" name="Google Shape;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392" y="312470"/>
            <a:ext cx="219002" cy="230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83;p10"/>
          <p:cNvSpPr txBox="1"/>
          <p:nvPr/>
        </p:nvSpPr>
        <p:spPr>
          <a:xfrm>
            <a:off x="8651586" y="4889163"/>
            <a:ext cx="456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900" kern="0">
                <a:solidFill>
                  <a:srgbClr val="FFFFFF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Open Sans"/>
              </a:rPr>
              <a:pPr algn="ctr">
                <a:buClr>
                  <a:srgbClr val="000000"/>
                </a:buClr>
                <a:buFont typeface="Arial"/>
                <a:buNone/>
              </a:pPr>
              <a:t>1</a:t>
            </a:fld>
            <a:endParaRPr sz="900" kern="0">
              <a:solidFill>
                <a:srgbClr val="FFFFFF"/>
              </a:solidFill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Open Sans"/>
            </a:endParaRPr>
          </a:p>
        </p:txBody>
      </p:sp>
      <p:sp>
        <p:nvSpPr>
          <p:cNvPr id="33" name="Google Shape;85;p10"/>
          <p:cNvSpPr/>
          <p:nvPr/>
        </p:nvSpPr>
        <p:spPr>
          <a:xfrm>
            <a:off x="7955280" y="1545021"/>
            <a:ext cx="365760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5A7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34" name="Google Shape;86;p10"/>
          <p:cNvSpPr/>
          <p:nvPr/>
        </p:nvSpPr>
        <p:spPr>
          <a:xfrm>
            <a:off x="7955280" y="815450"/>
            <a:ext cx="3657600" cy="605700"/>
          </a:xfrm>
          <a:prstGeom prst="round1Rect">
            <a:avLst>
              <a:gd name="adj" fmla="val 50000"/>
            </a:avLst>
          </a:prstGeom>
          <a:solidFill>
            <a:srgbClr val="F5A7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35" name="Google Shape;88;p10"/>
          <p:cNvSpPr txBox="1">
            <a:spLocks/>
          </p:cNvSpPr>
          <p:nvPr/>
        </p:nvSpPr>
        <p:spPr>
          <a:xfrm>
            <a:off x="446466" y="1583059"/>
            <a:ext cx="3674959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sz="1400" dirty="0" smtClean="0"/>
              <a:t>Empowers users to automatically connect to Wi-Fi hotspots without the usual manual intervention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sz="1400" dirty="0" smtClean="0"/>
              <a:t>Removes the need for users to enter usernames or passwords, offering a frictionless online experience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Provides users with secure Wi-Fi access, ensuring data </a:t>
            </a:r>
            <a:r>
              <a:rPr lang="en-US" sz="1400" dirty="0" smtClean="0"/>
              <a:t>safety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Especially valuable in high-traffic areas, ensuring users get quick and reliable connections whenever needed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36" name="Google Shape;89;p10"/>
          <p:cNvSpPr txBox="1">
            <a:spLocks/>
          </p:cNvSpPr>
          <p:nvPr/>
        </p:nvSpPr>
        <p:spPr>
          <a:xfrm>
            <a:off x="4206240" y="1595163"/>
            <a:ext cx="3652787" cy="269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sz="1400" b="1" dirty="0" smtClean="0"/>
              <a:t>Network Congestion</a:t>
            </a:r>
            <a:r>
              <a:rPr lang="en-US" sz="1400" dirty="0" smtClean="0"/>
              <a:t>: Growing </a:t>
            </a:r>
            <a:r>
              <a:rPr lang="en-US" sz="1400" dirty="0"/>
              <a:t>data demands lead to congested mobile networks, resulting in slow speeds and dropped </a:t>
            </a:r>
            <a:r>
              <a:rPr lang="en-US" sz="1400" dirty="0" smtClean="0"/>
              <a:t>connections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Seamless Connectivity</a:t>
            </a:r>
            <a:r>
              <a:rPr lang="en-US" sz="1400" b="1" kern="0" dirty="0" smtClean="0">
                <a:solidFill>
                  <a:srgbClr val="001021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400" dirty="0"/>
              <a:t>In a world where users frequently move between locations, ensuring they remain connected without manual re-authentications or network switches is </a:t>
            </a:r>
            <a:r>
              <a:rPr lang="en-US" sz="1400" dirty="0" smtClean="0"/>
              <a:t>crucial</a:t>
            </a:r>
            <a:r>
              <a:rPr lang="en-US" sz="1400" b="1" kern="0" dirty="0" smtClean="0">
                <a:solidFill>
                  <a:srgbClr val="001021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kern="0" dirty="0">
              <a:solidFill>
                <a:srgbClr val="001021"/>
              </a:solidFill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Google Shape;90;p10"/>
          <p:cNvSpPr txBox="1">
            <a:spLocks/>
          </p:cNvSpPr>
          <p:nvPr/>
        </p:nvSpPr>
        <p:spPr>
          <a:xfrm>
            <a:off x="7931217" y="1626669"/>
            <a:ext cx="3633535" cy="271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 panose="020B0604020202020204" pitchFamily="34" charset="0"/>
              <a:buChar char="•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lvl="0" indent="-228600">
              <a:buClr>
                <a:srgbClr val="66707A"/>
              </a:buClr>
            </a:pPr>
            <a:r>
              <a:rPr lang="en-US" sz="1400" b="1" dirty="0" err="1"/>
              <a:t>WiFi</a:t>
            </a:r>
            <a:r>
              <a:rPr lang="en-US" sz="1400" b="1" dirty="0"/>
              <a:t> Offloading</a:t>
            </a:r>
            <a:r>
              <a:rPr lang="en-US" sz="1400" dirty="0"/>
              <a:t>: Transfer data from cellular to </a:t>
            </a:r>
            <a:r>
              <a:rPr lang="en-US" sz="1400" dirty="0" err="1"/>
              <a:t>WiFi</a:t>
            </a:r>
            <a:r>
              <a:rPr lang="en-US" sz="1400" dirty="0"/>
              <a:t> networks, effectively reducing congestion and enhancing user </a:t>
            </a:r>
            <a:r>
              <a:rPr lang="en-US" sz="1400" dirty="0" smtClean="0"/>
              <a:t>experience</a:t>
            </a:r>
          </a:p>
          <a:p>
            <a:pPr marL="457200" lvl="0" indent="-228600">
              <a:buClr>
                <a:srgbClr val="66707A"/>
              </a:buClr>
            </a:pPr>
            <a:r>
              <a:rPr lang="en-US" sz="1400" b="1" dirty="0" err="1"/>
              <a:t>WiFi</a:t>
            </a:r>
            <a:r>
              <a:rPr lang="en-US" sz="1400" b="1" dirty="0"/>
              <a:t> Roaming</a:t>
            </a:r>
            <a:r>
              <a:rPr lang="en-US" sz="1400" dirty="0"/>
              <a:t>: Enable users to connect seamlessly across different </a:t>
            </a:r>
            <a:r>
              <a:rPr lang="en-US" sz="1400" dirty="0" err="1"/>
              <a:t>WiFi</a:t>
            </a:r>
            <a:r>
              <a:rPr lang="en-US" sz="1400" dirty="0"/>
              <a:t> networks, enhancing global mobility and reducing data </a:t>
            </a:r>
            <a:r>
              <a:rPr lang="en-US" sz="1400" dirty="0" smtClean="0"/>
              <a:t>roaming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38" name="Google Shape;92;p10"/>
          <p:cNvSpPr txBox="1">
            <a:spLocks/>
          </p:cNvSpPr>
          <p:nvPr/>
        </p:nvSpPr>
        <p:spPr>
          <a:xfrm>
            <a:off x="8565601" y="877168"/>
            <a:ext cx="242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The Solution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2" name="Google Shape;87;p10"/>
          <p:cNvSpPr txBox="1">
            <a:spLocks/>
          </p:cNvSpPr>
          <p:nvPr/>
        </p:nvSpPr>
        <p:spPr>
          <a:xfrm>
            <a:off x="460261" y="866444"/>
            <a:ext cx="3440295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Hotspot 2.0/</a:t>
            </a:r>
            <a:r>
              <a:rPr kumimoji="0" 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Passpoint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Overview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696" y="6581103"/>
            <a:ext cx="1149738" cy="265176"/>
          </a:xfrm>
          <a:prstGeom prst="rect">
            <a:avLst/>
          </a:prstGeom>
        </p:spPr>
      </p:pic>
      <p:sp>
        <p:nvSpPr>
          <p:cNvPr id="43" name="Google Shape;91;p10"/>
          <p:cNvSpPr txBox="1">
            <a:spLocks/>
          </p:cNvSpPr>
          <p:nvPr/>
        </p:nvSpPr>
        <p:spPr>
          <a:xfrm>
            <a:off x="4778414" y="868333"/>
            <a:ext cx="242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The Challenge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158435" y="5182009"/>
            <a:ext cx="66641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latin typeface="Lato" panose="020B0604020202020204" charset="0"/>
              </a:rPr>
              <a:t>Seamless offloading, Effortless roaming, Enhanced user experience</a:t>
            </a:r>
            <a:endParaRPr lang="en-US" sz="2000" b="1" i="1" dirty="0">
              <a:latin typeface="Lato" panose="020B0604020202020204" charset="0"/>
            </a:endParaRPr>
          </a:p>
        </p:txBody>
      </p:sp>
      <p:pic>
        <p:nvPicPr>
          <p:cNvPr id="5" name="Picture 4"/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57200" y="6572475"/>
            <a:ext cx="1152144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3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76;p10"/>
          <p:cNvSpPr>
            <a:spLocks noChangeAspect="1"/>
          </p:cNvSpPr>
          <p:nvPr/>
        </p:nvSpPr>
        <p:spPr>
          <a:xfrm>
            <a:off x="457199" y="1548174"/>
            <a:ext cx="2706624" cy="114184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9D8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26" name="Google Shape;77;p10"/>
          <p:cNvSpPr/>
          <p:nvPr/>
        </p:nvSpPr>
        <p:spPr>
          <a:xfrm>
            <a:off x="3255264" y="1549407"/>
            <a:ext cx="2706624" cy="11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3D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27" name="Google Shape;78;p10"/>
          <p:cNvSpPr/>
          <p:nvPr/>
        </p:nvSpPr>
        <p:spPr>
          <a:xfrm>
            <a:off x="457200" y="815450"/>
            <a:ext cx="2702301" cy="605700"/>
          </a:xfrm>
          <a:prstGeom prst="round1Rect">
            <a:avLst>
              <a:gd name="adj" fmla="val 50000"/>
            </a:avLst>
          </a:prstGeom>
          <a:solidFill>
            <a:srgbClr val="A9D8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28" name="Google Shape;79;p10"/>
          <p:cNvSpPr/>
          <p:nvPr/>
        </p:nvSpPr>
        <p:spPr>
          <a:xfrm>
            <a:off x="3255264" y="815450"/>
            <a:ext cx="2706624" cy="605700"/>
          </a:xfrm>
          <a:prstGeom prst="round1Rect">
            <a:avLst>
              <a:gd name="adj" fmla="val 50000"/>
            </a:avLst>
          </a:prstGeom>
          <a:solidFill>
            <a:srgbClr val="B3D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29" name="Google Shape;80;p10"/>
          <p:cNvSpPr txBox="1">
            <a:spLocks/>
          </p:cNvSpPr>
          <p:nvPr/>
        </p:nvSpPr>
        <p:spPr>
          <a:xfrm>
            <a:off x="311700" y="91288"/>
            <a:ext cx="87918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ato Black"/>
              <a:buNone/>
              <a:defRPr sz="1600" b="0" i="0" u="none" strike="noStrike" cap="non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xo 2"/>
              <a:buNone/>
              <a:defRPr sz="2500" b="0" i="0" u="none" strike="noStrike" cap="non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021"/>
              </a:buClr>
              <a:buSzPts val="2500"/>
              <a:buFont typeface="Lato Black"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 Black"/>
              </a:rPr>
              <a:t>Core Strategies for Hotspot 2.0 Monetization</a:t>
            </a: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 Black"/>
            </a:endParaRPr>
          </a:p>
        </p:txBody>
      </p:sp>
      <p:pic>
        <p:nvPicPr>
          <p:cNvPr id="30" name="Google Shape;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392" y="312470"/>
            <a:ext cx="219002" cy="23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8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567487"/>
            <a:ext cx="12192000" cy="29051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83;p10"/>
          <p:cNvSpPr txBox="1"/>
          <p:nvPr/>
        </p:nvSpPr>
        <p:spPr>
          <a:xfrm>
            <a:off x="8651586" y="4889163"/>
            <a:ext cx="456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900" kern="0">
                <a:solidFill>
                  <a:srgbClr val="FFFFFF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Open Sans"/>
              </a:rPr>
              <a:pPr algn="ctr">
                <a:buClr>
                  <a:srgbClr val="000000"/>
                </a:buClr>
                <a:buFont typeface="Arial"/>
                <a:buNone/>
              </a:pPr>
              <a:t>2</a:t>
            </a:fld>
            <a:endParaRPr sz="900" kern="0">
              <a:solidFill>
                <a:srgbClr val="FFFFFF"/>
              </a:solidFill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Open Sans"/>
            </a:endParaRPr>
          </a:p>
        </p:txBody>
      </p:sp>
      <p:sp>
        <p:nvSpPr>
          <p:cNvPr id="33" name="Google Shape;85;p10"/>
          <p:cNvSpPr/>
          <p:nvPr/>
        </p:nvSpPr>
        <p:spPr>
          <a:xfrm>
            <a:off x="6056313" y="1545021"/>
            <a:ext cx="2706624" cy="11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5A7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34" name="Google Shape;86;p10"/>
          <p:cNvSpPr/>
          <p:nvPr/>
        </p:nvSpPr>
        <p:spPr>
          <a:xfrm>
            <a:off x="6053160" y="815450"/>
            <a:ext cx="2706624" cy="605700"/>
          </a:xfrm>
          <a:prstGeom prst="round1Rect">
            <a:avLst>
              <a:gd name="adj" fmla="val 50000"/>
            </a:avLst>
          </a:prstGeom>
          <a:solidFill>
            <a:srgbClr val="F5A7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35" name="Google Shape;88;p10"/>
          <p:cNvSpPr txBox="1">
            <a:spLocks/>
          </p:cNvSpPr>
          <p:nvPr/>
        </p:nvSpPr>
        <p:spPr>
          <a:xfrm>
            <a:off x="446467" y="1583061"/>
            <a:ext cx="270662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Collaborate with Mobile Network Operators (MNOs)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Leverage analytics to identify peak times for offloading and roaming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Promote network reliability to attract partnerships</a:t>
            </a:r>
          </a:p>
          <a:p>
            <a:pPr marL="1333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36" name="Google Shape;89;p10"/>
          <p:cNvSpPr txBox="1">
            <a:spLocks/>
          </p:cNvSpPr>
          <p:nvPr/>
        </p:nvSpPr>
        <p:spPr>
          <a:xfrm>
            <a:off x="3241900" y="1581912"/>
            <a:ext cx="2706624" cy="114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Seamless experience across partnered networks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Competitive pricing structure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Expansion of network partnerships for wider reach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37" name="Google Shape;90;p10"/>
          <p:cNvSpPr txBox="1">
            <a:spLocks/>
          </p:cNvSpPr>
          <p:nvPr/>
        </p:nvSpPr>
        <p:spPr>
          <a:xfrm>
            <a:off x="6044564" y="1581912"/>
            <a:ext cx="270662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 panose="020B0604020202020204" pitchFamily="34" charset="0"/>
              <a:buChar char="•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Seamless logins and fast connections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Enhance user trust with regular security feature updates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Offer loyalty programs or bundle other services for retention/net new adds</a:t>
            </a:r>
          </a:p>
        </p:txBody>
      </p:sp>
      <p:sp>
        <p:nvSpPr>
          <p:cNvPr id="38" name="Google Shape;92;p10"/>
          <p:cNvSpPr txBox="1">
            <a:spLocks/>
          </p:cNvSpPr>
          <p:nvPr/>
        </p:nvSpPr>
        <p:spPr>
          <a:xfrm>
            <a:off x="6180210" y="872750"/>
            <a:ext cx="242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User Engagement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39" name="Google Shape;78;p10"/>
          <p:cNvSpPr/>
          <p:nvPr/>
        </p:nvSpPr>
        <p:spPr>
          <a:xfrm>
            <a:off x="8851392" y="813816"/>
            <a:ext cx="2702301" cy="605700"/>
          </a:xfrm>
          <a:prstGeom prst="round1Rect">
            <a:avLst>
              <a:gd name="adj" fmla="val 50000"/>
            </a:avLst>
          </a:prstGeom>
          <a:solidFill>
            <a:srgbClr val="DAC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Font typeface="Arial"/>
              <a:buNone/>
            </a:pPr>
            <a:r>
              <a:rPr lang="en-US" sz="1400" b="1" kern="0" dirty="0">
                <a:solidFill>
                  <a:srgbClr val="000000"/>
                </a:solidFill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Location &amp; Services</a:t>
            </a:r>
          </a:p>
        </p:txBody>
      </p:sp>
      <p:sp>
        <p:nvSpPr>
          <p:cNvPr id="40" name="Google Shape;88;p10"/>
          <p:cNvSpPr txBox="1">
            <a:spLocks/>
          </p:cNvSpPr>
          <p:nvPr/>
        </p:nvSpPr>
        <p:spPr>
          <a:xfrm>
            <a:off x="8851392" y="1545336"/>
            <a:ext cx="2706624" cy="1143000"/>
          </a:xfrm>
          <a:prstGeom prst="rect">
            <a:avLst/>
          </a:prstGeom>
          <a:noFill/>
          <a:ln>
            <a:solidFill>
              <a:srgbClr val="DACBA8"/>
            </a:solidFill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Serve targeted promotions based on user's location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Optimize offers for roaming users and during offloading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Prioritize high-footfall areas for maximum ad visibility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1" name="Google Shape;79;p10"/>
          <p:cNvSpPr/>
          <p:nvPr/>
        </p:nvSpPr>
        <p:spPr>
          <a:xfrm>
            <a:off x="457200" y="3008376"/>
            <a:ext cx="2706624" cy="605700"/>
          </a:xfrm>
          <a:prstGeom prst="round1Rect">
            <a:avLst>
              <a:gd name="adj" fmla="val 50000"/>
            </a:avLst>
          </a:prstGeom>
          <a:solidFill>
            <a:srgbClr val="A9D8D1">
              <a:lumMod val="40000"/>
              <a:lumOff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Subscription Models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42" name="Google Shape;87;p10"/>
          <p:cNvSpPr txBox="1">
            <a:spLocks/>
          </p:cNvSpPr>
          <p:nvPr/>
        </p:nvSpPr>
        <p:spPr>
          <a:xfrm>
            <a:off x="460262" y="866444"/>
            <a:ext cx="247843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Carrier Partnerships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3" name="Google Shape;91;p10"/>
          <p:cNvSpPr txBox="1">
            <a:spLocks/>
          </p:cNvSpPr>
          <p:nvPr/>
        </p:nvSpPr>
        <p:spPr>
          <a:xfrm>
            <a:off x="3364848" y="872750"/>
            <a:ext cx="2423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7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None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387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Lato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WiFi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 Roaming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4" name="Google Shape;88;p10"/>
          <p:cNvSpPr txBox="1">
            <a:spLocks/>
          </p:cNvSpPr>
          <p:nvPr/>
        </p:nvSpPr>
        <p:spPr>
          <a:xfrm>
            <a:off x="457200" y="3738879"/>
            <a:ext cx="2706624" cy="1143000"/>
          </a:xfrm>
          <a:prstGeom prst="rect">
            <a:avLst/>
          </a:prstGeom>
          <a:noFill/>
          <a:ln>
            <a:solidFill>
              <a:srgbClr val="A9D8D1">
                <a:lumMod val="40000"/>
                <a:lumOff val="60000"/>
              </a:srgbClr>
            </a:solidFill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Packages catering to varied user needs, including roaming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Business-focused plans for prioritized offloading and extended roaming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7A"/>
              </a:buClr>
              <a:buSzPts val="15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Lato"/>
              </a:rPr>
              <a:t>Regularly review and adjust based on user behavior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5" name="Google Shape;79;p10"/>
          <p:cNvSpPr/>
          <p:nvPr/>
        </p:nvSpPr>
        <p:spPr>
          <a:xfrm>
            <a:off x="3255264" y="3007725"/>
            <a:ext cx="2706624" cy="605700"/>
          </a:xfrm>
          <a:prstGeom prst="round1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Partnerships &amp; Expansions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46" name="Google Shape;88;p10"/>
          <p:cNvSpPr txBox="1">
            <a:spLocks/>
          </p:cNvSpPr>
          <p:nvPr/>
        </p:nvSpPr>
        <p:spPr>
          <a:xfrm>
            <a:off x="3255264" y="3739896"/>
            <a:ext cx="2706624" cy="114300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Offer tailored shopping opportunities during roaming or </a:t>
            </a:r>
            <a:r>
              <a:rPr lang="en-US" dirty="0" smtClean="0"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offloading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B2B benefits like prioritized offloading and extended </a:t>
            </a:r>
            <a:r>
              <a:rPr lang="en-US" dirty="0" smtClean="0"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roaming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</a:rPr>
              <a:t>Diversify and expand through affiliate marketing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8" name="Google Shape;90;p10"/>
          <p:cNvSpPr txBox="1">
            <a:spLocks/>
          </p:cNvSpPr>
          <p:nvPr/>
        </p:nvSpPr>
        <p:spPr>
          <a:xfrm>
            <a:off x="8851392" y="3736362"/>
            <a:ext cx="2706624" cy="1143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80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 panose="020B0604020202020204" pitchFamily="34" charset="0"/>
              <a:buChar char="•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 indent="-228600">
              <a:buClr>
                <a:srgbClr val="66707A"/>
              </a:buClr>
            </a:pPr>
            <a:r>
              <a:rPr lang="en-US" dirty="0"/>
              <a:t>Data-driven insights to improve user experience during offloading and </a:t>
            </a:r>
            <a:r>
              <a:rPr lang="en-US" dirty="0" smtClean="0"/>
              <a:t>roaming</a:t>
            </a:r>
          </a:p>
          <a:p>
            <a:pPr lvl="0" indent="-228600">
              <a:buClr>
                <a:srgbClr val="66707A"/>
              </a:buClr>
            </a:pPr>
            <a:r>
              <a:rPr lang="en-US" dirty="0"/>
              <a:t>Sponsored access in strategic </a:t>
            </a:r>
            <a:r>
              <a:rPr lang="en-US" dirty="0" smtClean="0"/>
              <a:t>locations</a:t>
            </a:r>
          </a:p>
          <a:p>
            <a:pPr lvl="0" indent="-228600">
              <a:buClr>
                <a:srgbClr val="66707A"/>
              </a:buClr>
            </a:pPr>
            <a:r>
              <a:rPr lang="en-US" dirty="0"/>
              <a:t>Explore additional value-added services to enhance monetization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49" name="Google Shape;86;p10"/>
          <p:cNvSpPr/>
          <p:nvPr/>
        </p:nvSpPr>
        <p:spPr>
          <a:xfrm>
            <a:off x="8851392" y="3008376"/>
            <a:ext cx="2706624" cy="6057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Future Innovation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50" name="Google Shape;79;p10"/>
          <p:cNvSpPr/>
          <p:nvPr/>
        </p:nvSpPr>
        <p:spPr>
          <a:xfrm>
            <a:off x="6053328" y="3008376"/>
            <a:ext cx="2706624" cy="605700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Arial"/>
              </a:rPr>
              <a:t>Infrastructure &amp; Tech Advancement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  <p:sp>
        <p:nvSpPr>
          <p:cNvPr id="51" name="Google Shape;88;p10"/>
          <p:cNvSpPr txBox="1">
            <a:spLocks/>
          </p:cNvSpPr>
          <p:nvPr/>
        </p:nvSpPr>
        <p:spPr>
          <a:xfrm>
            <a:off x="6053328" y="3739896"/>
            <a:ext cx="2706624" cy="114300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■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○"/>
              <a:defRPr sz="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○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■"/>
              <a:defRPr sz="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Upgrade </a:t>
            </a:r>
            <a:r>
              <a:rPr lang="en-US" dirty="0" err="1" smtClean="0"/>
              <a:t>WiFi</a:t>
            </a:r>
            <a:r>
              <a:rPr lang="en-US" dirty="0" smtClean="0"/>
              <a:t> </a:t>
            </a:r>
            <a:r>
              <a:rPr lang="en-US" dirty="0"/>
              <a:t>hardware to support increasing user </a:t>
            </a:r>
            <a:r>
              <a:rPr lang="en-US" dirty="0" smtClean="0"/>
              <a:t>demands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Optimize software and network tooling on a regular basis</a:t>
            </a:r>
          </a:p>
          <a:p>
            <a:pPr lvl="0" indent="-228600">
              <a:buClr>
                <a:srgbClr val="66707A"/>
              </a:buClr>
              <a:buFont typeface="Arial" panose="020B0604020202020204" pitchFamily="34" charset="0"/>
              <a:buChar char="•"/>
            </a:pPr>
            <a:r>
              <a:rPr lang="en-US" dirty="0"/>
              <a:t>Anticipate </a:t>
            </a:r>
            <a:r>
              <a:rPr lang="en-US" dirty="0" smtClean="0"/>
              <a:t>emerging </a:t>
            </a:r>
            <a:r>
              <a:rPr lang="en-US" dirty="0"/>
              <a:t>technologies that could impact </a:t>
            </a:r>
            <a:r>
              <a:rPr lang="en-US" dirty="0" smtClean="0"/>
              <a:t>the </a:t>
            </a:r>
            <a:r>
              <a:rPr lang="en-US" dirty="0" err="1"/>
              <a:t>WiFi</a:t>
            </a:r>
            <a:r>
              <a:rPr lang="en-US" dirty="0"/>
              <a:t> ecosystem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Lato" panose="020B0604020202020204" charset="0"/>
              <a:ea typeface="Tahoma" panose="020B0604030504040204" pitchFamily="34" charset="0"/>
              <a:cs typeface="Tahoma" panose="020B0604030504040204" pitchFamily="34" charset="0"/>
              <a:sym typeface="Lato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158435" y="5182009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i="1" dirty="0" smtClean="0"/>
              <a:t>A Comprehensive Approach to Offloading, Roaming, and Revenue Generation</a:t>
            </a:r>
            <a:endParaRPr lang="en-US" sz="2000" b="1" i="1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696" y="6581103"/>
            <a:ext cx="1149738" cy="265176"/>
          </a:xfrm>
          <a:prstGeom prst="rect">
            <a:avLst/>
          </a:prstGeom>
        </p:spPr>
      </p:pic>
      <p:pic>
        <p:nvPicPr>
          <p:cNvPr id="53" name="Picture 52"/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57200" y="6572475"/>
            <a:ext cx="1152144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4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656</Words>
  <Application>Microsoft Office PowerPoint</Application>
  <PresentationFormat>Widescreen</PresentationFormat>
  <Paragraphs>66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Lato</vt:lpstr>
      <vt:lpstr>Lato Black</vt:lpstr>
      <vt:lpstr>Open Sans</vt:lpstr>
      <vt:lpstr>Tahoma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.</cp:lastModifiedBy>
  <cp:revision>39</cp:revision>
  <dcterms:created xsi:type="dcterms:W3CDTF">2023-10-01T16:03:41Z</dcterms:created>
  <dcterms:modified xsi:type="dcterms:W3CDTF">2023-10-09T22:01:06Z</dcterms:modified>
  <cp:contentStatus/>
</cp:coreProperties>
</file>