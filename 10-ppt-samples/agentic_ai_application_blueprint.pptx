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Agentic AI is more than chat. It reasons through a goal, uses tools, takes approved actions, validates outcomes, and escalates when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internal developer platforms, Level 3 or 4 is usually the first production-ready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hardest part is product definition: clear jobs, non-goals, and measurable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only one layer. Orchestration, retrieval, identity enforcement, and observability make it production-ready.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product/platform build, not only an LLM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workflow: define entry criteria, required fields, decision logic, tools, stop conditions, approvals, and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knowledge, data, and tools as independent product surfaces. Each has governance and ownership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risks include prompt injection, sensitive information disclosure, excessive agency, improper output handling, stale retrieval, and unbounded loops/costs.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an evaluation set early. Test answer quality, workflow success, safety, reliability, and user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write actions in the MVP. Prove value through knowledge, guided workflows, and support handoff quality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Operating model matters. Ownership prevents stale docs, orphaned tools, and unclear accountability after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distinction: this is not a chatbot. It is governed automation with workflow, tool boundaries, evals, and measurable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AI Application Blueprint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239572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96275"/>
                </a:solidFill>
              </a:rPr>
              <a:t>Everything required to move from chatbot to governed workflow automation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3401568"/>
            <a:ext cx="4389120" cy="384048"/>
          </a:xfrm>
          <a:prstGeom prst="roundRect">
            <a:avLst>
              <a:gd name="adj" fmla="val 19048"/>
            </a:avLst>
          </a:prstGeom>
          <a:solidFill>
            <a:srgbClr val="2557D6"/>
          </a:solidFill>
          <a:ln w="12700">
            <a:solidFill>
              <a:srgbClr val="2557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3483864"/>
            <a:ext cx="43159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 + Architecture + Governance + Launch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720840" y="4498848"/>
            <a:ext cx="795528" cy="0"/>
          </a:xfrm>
          <a:prstGeom prst="line">
            <a:avLst/>
          </a:prstGeom>
          <a:noFill/>
          <a:ln w="15875">
            <a:solidFill>
              <a:srgbClr val="2557D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302752" y="4498848"/>
            <a:ext cx="795528" cy="0"/>
          </a:xfrm>
          <a:prstGeom prst="line">
            <a:avLst/>
          </a:prstGeom>
          <a:noFill/>
          <a:ln w="15875">
            <a:solidFill>
              <a:srgbClr val="2557D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93808" y="4498848"/>
            <a:ext cx="758952" cy="0"/>
          </a:xfrm>
          <a:prstGeom prst="line">
            <a:avLst/>
          </a:prstGeom>
          <a:noFill/>
          <a:ln w="15875">
            <a:solidFill>
              <a:srgbClr val="2557D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06440" y="3977640"/>
            <a:ext cx="9144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557D6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97880" y="4087368"/>
            <a:ext cx="731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Goal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88352" y="3977640"/>
            <a:ext cx="9144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3A8B8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79792" y="4087368"/>
            <a:ext cx="731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Plan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961120" y="3977640"/>
            <a:ext cx="9144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B8A5A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4087368"/>
            <a:ext cx="731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Act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515600" y="3977640"/>
            <a:ext cx="1143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E09B22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607040" y="4087368"/>
            <a:ext cx="9601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Verify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567160" y="64465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an application “agentic”?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275"/>
                </a:solidFill>
              </a:rPr>
              <a:t>The shift is from answering questions to completing governed workflows.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5120640"/>
            <a:ext cx="411480" cy="411480"/>
          </a:xfrm>
          <a:prstGeom prst="ellipse">
            <a:avLst/>
          </a:prstGeom>
          <a:solidFill>
            <a:srgbClr val="2557D6"/>
          </a:solidFill>
          <a:ln w="12700">
            <a:solidFill>
              <a:srgbClr val="2557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5239512"/>
            <a:ext cx="164592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17320" y="5330952"/>
            <a:ext cx="4160520" cy="0"/>
          </a:xfrm>
          <a:prstGeom prst="line">
            <a:avLst/>
          </a:prstGeom>
          <a:noFill/>
          <a:ln w="25400">
            <a:solidFill>
              <a:srgbClr val="2557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51206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Q&amp;A — Answers from docs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443984"/>
            <a:ext cx="411480" cy="411480"/>
          </a:xfrm>
          <a:prstGeom prst="ellipse">
            <a:avLst/>
          </a:prstGeom>
          <a:solidFill>
            <a:srgbClr val="2557D6"/>
          </a:solidFill>
          <a:ln w="12700">
            <a:solidFill>
              <a:srgbClr val="25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562856"/>
            <a:ext cx="164592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17320" y="4654296"/>
            <a:ext cx="4343400" cy="0"/>
          </a:xfrm>
          <a:prstGeom prst="line">
            <a:avLst/>
          </a:prstGeom>
          <a:noFill/>
          <a:ln w="25400">
            <a:solidFill>
              <a:srgbClr val="2557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44439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Guided — Step-by-step help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767328"/>
            <a:ext cx="411480" cy="411480"/>
          </a:xfrm>
          <a:prstGeom prst="ellipse">
            <a:avLst/>
          </a:prstGeom>
          <a:solidFill>
            <a:srgbClr val="13A8B8"/>
          </a:solidFill>
          <a:ln w="12700">
            <a:solidFill>
              <a:srgbClr val="13A8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886200"/>
            <a:ext cx="164592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17320" y="3977640"/>
            <a:ext cx="4526280" cy="0"/>
          </a:xfrm>
          <a:prstGeom prst="line">
            <a:avLst/>
          </a:prstGeom>
          <a:noFill/>
          <a:ln w="25400">
            <a:solidFill>
              <a:srgbClr val="13A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37673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Tool-use — Calls APIs/search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3090672"/>
            <a:ext cx="411480" cy="411480"/>
          </a:xfrm>
          <a:prstGeom prst="ellipse">
            <a:avLst/>
          </a:prstGeom>
          <a:solidFill>
            <a:srgbClr val="13A8B8"/>
          </a:solidFill>
          <a:ln w="12700">
            <a:solidFill>
              <a:srgbClr val="13A8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209544"/>
            <a:ext cx="164592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17320" y="3300984"/>
            <a:ext cx="4709160" cy="0"/>
          </a:xfrm>
          <a:prstGeom prst="line">
            <a:avLst/>
          </a:prstGeom>
          <a:noFill/>
          <a:ln w="25400">
            <a:solidFill>
              <a:srgbClr val="13A8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309067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Workflow — Plans + validates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2414016"/>
            <a:ext cx="411480" cy="411480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2532888"/>
            <a:ext cx="164592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417320" y="2624328"/>
            <a:ext cx="4892040" cy="0"/>
          </a:xfrm>
          <a:prstGeom prst="line">
            <a:avLst/>
          </a:prstGeom>
          <a:noFill/>
          <a:ln w="25400">
            <a:solidFill>
              <a:srgbClr val="1B8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24140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Semi-auto — Acts with approval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1856232"/>
            <a:ext cx="164592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17320" y="1947672"/>
            <a:ext cx="5074920" cy="0"/>
          </a:xfrm>
          <a:prstGeom prst="line">
            <a:avLst/>
          </a:prstGeom>
          <a:noFill/>
          <a:ln w="25400">
            <a:solidFill>
              <a:srgbClr val="1B8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17373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Autonomous — Acts within policy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858000" y="1188720"/>
            <a:ext cx="0" cy="480060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Enterprise sweet spot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7333488" y="2011680"/>
            <a:ext cx="393192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172033"/>
                </a:solidFill>
              </a:rPr>
              <a:t>Most internal platform agents should start at Level 3–4.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172033"/>
                </a:solidFill>
              </a:rPr>
              <a:t>Read-only tool calls before write actions.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172033"/>
                </a:solidFill>
              </a:rPr>
              <a:t>Human approval before sensitive changes.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172033"/>
                </a:solidFill>
              </a:rPr>
              <a:t>Measure task completion, not just chat usage.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7315200" y="5120640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51776" y="5202936"/>
            <a:ext cx="39959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Avoid full autonomy until blast radius is tightly controlled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567160" y="64465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the product definition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275"/>
                </a:solidFill>
              </a:rPr>
              <a:t>Define the job, users, boundaries, and success metrics before selecting models or tools.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57D6"/>
                </a:solidFill>
              </a:rPr>
              <a:t>Core job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73352"/>
            <a:ext cx="46634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Help users complete a goal safely — not just find information.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96275"/>
                </a:solidFill>
              </a:rPr>
              <a:t>Example: CaaS onboarding / troubleshooting agent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3337560"/>
            <a:ext cx="512064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Identify app, team, environment, and prerequisites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Retrieve the right docs in the right sequence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Check access, status, or known error patterns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Create a support handoff when automation stops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949440" y="1325880"/>
            <a:ext cx="566928" cy="566928"/>
          </a:xfrm>
          <a:prstGeom prst="ellipse">
            <a:avLst/>
          </a:prstGeom>
          <a:solidFill>
            <a:srgbClr val="2557D6"/>
          </a:solidFill>
          <a:ln w="12700">
            <a:solidFill>
              <a:srgbClr val="255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1463040"/>
            <a:ext cx="2880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Developers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0" y="2112264"/>
            <a:ext cx="566928" cy="566928"/>
          </a:xfrm>
          <a:prstGeom prst="ellipse">
            <a:avLst/>
          </a:prstGeom>
          <a:solidFill>
            <a:srgbClr val="13A8B8"/>
          </a:solidFill>
          <a:ln w="12700">
            <a:solidFill>
              <a:srgbClr val="13A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2249424"/>
            <a:ext cx="2880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Platform support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49440" y="2898648"/>
            <a:ext cx="566928" cy="566928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3035808"/>
            <a:ext cx="2880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SRE / Ops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49440" y="3685032"/>
            <a:ext cx="566928" cy="566928"/>
          </a:xfrm>
          <a:prstGeom prst="ellipse">
            <a:avLst/>
          </a:prstGeom>
          <a:solidFill>
            <a:srgbClr val="E09B22"/>
          </a:solidFill>
          <a:ln w="12700">
            <a:solidFill>
              <a:srgbClr val="E09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3822192"/>
            <a:ext cx="2880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Product owners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92240" y="4800600"/>
            <a:ext cx="46634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5047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4747"/>
                </a:solidFill>
              </a:rPr>
              <a:t>Non-goals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63840" y="50292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96275"/>
                </a:solidFill>
              </a:rPr>
              <a:t>No production mutations, delete actions, or access changes without policy enforcement and approval.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567160" y="64465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architecture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275"/>
                </a:solidFill>
              </a:rPr>
              <a:t>A production agent is a governed workflow system around the model.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154680" y="1444752"/>
            <a:ext cx="649224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001000" y="1444752"/>
            <a:ext cx="649224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154680" y="2121408"/>
            <a:ext cx="649224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001000" y="2121408"/>
            <a:ext cx="649224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54680" y="2798064"/>
            <a:ext cx="649224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001000" y="2798064"/>
            <a:ext cx="649224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54680" y="3474720"/>
            <a:ext cx="649224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01000" y="3474720"/>
            <a:ext cx="649224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54680" y="4151376"/>
            <a:ext cx="649224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001000" y="4151376"/>
            <a:ext cx="649224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54680" y="4828032"/>
            <a:ext cx="649224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01000" y="4828032"/>
            <a:ext cx="649224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5800" y="1115568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2557D6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1225296"/>
            <a:ext cx="22860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UI / Chat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5528" y="1490472"/>
            <a:ext cx="224942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Embedded portal, Teams, CLI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1792224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2557D6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1901952"/>
            <a:ext cx="22860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Session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95528" y="2167128"/>
            <a:ext cx="224942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Conversation state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246888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2557D6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2578608"/>
            <a:ext cx="22860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Router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95528" y="2843784"/>
            <a:ext cx="224942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Intent + workflow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3145536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2557D6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3255264"/>
            <a:ext cx="22860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Agent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95528" y="3520440"/>
            <a:ext cx="224942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Plan, call tools, verify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3822192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2557D6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3931920"/>
            <a:ext cx="22860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Model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95528" y="4197096"/>
            <a:ext cx="224942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Reasoning + language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" y="4498848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2557D6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7240" y="4608576"/>
            <a:ext cx="22860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Guardrails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95528" y="4873752"/>
            <a:ext cx="224942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Policy + safety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94760" y="1115568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13A8B8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886200" y="1225296"/>
            <a:ext cx="40233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Tool Gateway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3904488" y="1490472"/>
            <a:ext cx="398678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Schema validation, auth, audit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794760" y="1792224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13A8B8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886200" y="1901952"/>
            <a:ext cx="40233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Retrieval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3904488" y="2167128"/>
            <a:ext cx="398678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Docs, KB, runbooks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794760" y="246888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13A8B8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886200" y="2578608"/>
            <a:ext cx="40233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State Store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3904488" y="2843784"/>
            <a:ext cx="398678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Session + workflow state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794760" y="3145536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E09B22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886200" y="3255264"/>
            <a:ext cx="40233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Observability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3904488" y="3520440"/>
            <a:ext cx="398678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Traces, evals, metrics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794760" y="3822192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E09B22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886200" y="3931920"/>
            <a:ext cx="40233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Policy Engine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3904488" y="4197096"/>
            <a:ext cx="398678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RBAC, approvals, redaction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794760" y="4498848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E09B22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886200" y="4608576"/>
            <a:ext cx="40233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Human Handoff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3904488" y="4873752"/>
            <a:ext cx="398678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Support escalation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641080" y="1115568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1B8A5A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732520" y="1225296"/>
            <a:ext cx="26517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Internal APIs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8750808" y="1490472"/>
            <a:ext cx="261518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Platform, tickets, CI/CD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641080" y="1792224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1B8A5A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732520" y="1901952"/>
            <a:ext cx="26517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Knowledge Sources</a:t>
            </a:r>
            <a:endParaRPr lang="en-US" sz="1700" dirty="0"/>
          </a:p>
        </p:txBody>
      </p:sp>
      <p:sp>
        <p:nvSpPr>
          <p:cNvPr id="57" name="Text 55"/>
          <p:cNvSpPr/>
          <p:nvPr/>
        </p:nvSpPr>
        <p:spPr>
          <a:xfrm>
            <a:off x="8750808" y="2167128"/>
            <a:ext cx="261518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Docs, API specs, FAQs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641080" y="246888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1B8A5A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732520" y="2578608"/>
            <a:ext cx="26517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Operational Data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8750808" y="2843784"/>
            <a:ext cx="261518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Status, logs, telemetry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641080" y="3145536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1B8A5A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732520" y="3255264"/>
            <a:ext cx="26517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Identity Systems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8750808" y="3520440"/>
            <a:ext cx="261518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SSO, groups, ownership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641080" y="3822192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1B8A5A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8732520" y="3931920"/>
            <a:ext cx="26517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Audit Logs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8750808" y="4197096"/>
            <a:ext cx="261518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Tool use + decisions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641080" y="4498848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970">
            <a:solidFill>
              <a:srgbClr val="1B8A5A"/>
            </a:solidFill>
            <a:prstDash val="solid"/>
          </a:ln>
          <a:effectLst>
            <a:outerShdw sx="100000" sy="100000" kx="0" ky="0" algn="bl" rotWithShape="0" blurRad="12700" dist="50800" dir="2700000">
              <a:srgbClr val="CCD2E0">
                <a:alpha val="14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8732520" y="4608576"/>
            <a:ext cx="26517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Support Queues</a:t>
            </a:r>
            <a:endParaRPr lang="en-US" sz="1700" dirty="0"/>
          </a:p>
        </p:txBody>
      </p:sp>
      <p:sp>
        <p:nvSpPr>
          <p:cNvPr id="69" name="Text 67"/>
          <p:cNvSpPr/>
          <p:nvPr/>
        </p:nvSpPr>
        <p:spPr>
          <a:xfrm>
            <a:off x="8750808" y="4873752"/>
            <a:ext cx="2615184" cy="64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96275"/>
                </a:solidFill>
              </a:rPr>
              <a:t>Clean handoff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1567160" y="64465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build components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275"/>
                </a:solidFill>
              </a:rPr>
              <a:t>Each component needs an owner, acceptance criteria, and launch readiness checks.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1143000"/>
            <a:ext cx="530352" cy="530352"/>
          </a:xfrm>
          <a:prstGeom prst="ellipse">
            <a:avLst/>
          </a:prstGeom>
          <a:solidFill>
            <a:srgbClr val="2557D6"/>
          </a:solidFill>
          <a:ln w="12700">
            <a:solidFill>
              <a:srgbClr val="2557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289304"/>
            <a:ext cx="21945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1124712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User experience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617720" y="11430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96275"/>
                </a:solidFill>
              </a:rPr>
              <a:t>Embedded UI, suggested prompts, confirmations, citations, feedback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33856" y="1764792"/>
            <a:ext cx="0" cy="283464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103120"/>
            <a:ext cx="530352" cy="530352"/>
          </a:xfrm>
          <a:prstGeom prst="ellipse">
            <a:avLst/>
          </a:prstGeom>
          <a:solidFill>
            <a:srgbClr val="13A8B8"/>
          </a:solidFill>
          <a:ln w="12700">
            <a:solidFill>
              <a:srgbClr val="13A8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249424"/>
            <a:ext cx="21945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2084832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Orchestration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1031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96275"/>
                </a:solidFill>
              </a:rPr>
              <a:t>Intent routing, planning, workflow state, retries, escalation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33856" y="2724912"/>
            <a:ext cx="0" cy="283464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063240"/>
            <a:ext cx="530352" cy="530352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209544"/>
            <a:ext cx="21945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3044952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Knowledge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30632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96275"/>
                </a:solidFill>
              </a:rPr>
              <a:t>Docs, metadata, retrieval, freshness, source ownership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33856" y="3685032"/>
            <a:ext cx="0" cy="283464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023360"/>
            <a:ext cx="530352" cy="530352"/>
          </a:xfrm>
          <a:prstGeom prst="ellipse">
            <a:avLst/>
          </a:prstGeom>
          <a:solidFill>
            <a:srgbClr val="E09B22"/>
          </a:solidFill>
          <a:ln w="12700">
            <a:solidFill>
              <a:srgbClr val="E09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169664"/>
            <a:ext cx="21945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4005072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Tools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17720" y="40233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96275"/>
                </a:solidFill>
              </a:rPr>
              <a:t>Approved APIs, schemas, permission checks, audit logs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33856" y="4645152"/>
            <a:ext cx="0" cy="283464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983480"/>
            <a:ext cx="530352" cy="530352"/>
          </a:xfrm>
          <a:prstGeom prst="ellipse">
            <a:avLst/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5129784"/>
            <a:ext cx="219456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91640" y="4965192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Governance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17720" y="49834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96275"/>
                </a:solidFill>
              </a:rPr>
              <a:t>Guardrails, risk reviews, human-in-loop, monitoring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0080" y="6108192"/>
            <a:ext cx="10835640" cy="36576"/>
          </a:xfrm>
          <a:prstGeom prst="rect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62362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Principle: prompt design helps, but production control belongs in code, policy, and tool boundaries.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567160" y="64465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workflows explicitly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275"/>
                </a:solidFill>
              </a:rPr>
              <a:t>Do not rely on the model to invent the process on every request.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</a:rPr>
              <a:t>Example: “My deployment failed”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417320" y="2834640"/>
            <a:ext cx="457200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26080" y="2834640"/>
            <a:ext cx="457200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34840" y="2834640"/>
            <a:ext cx="457200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43600" y="2834640"/>
            <a:ext cx="457200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52360" y="2834640"/>
            <a:ext cx="457200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61120" y="2834640"/>
            <a:ext cx="457200" cy="0"/>
          </a:xfrm>
          <a:prstGeom prst="line">
            <a:avLst/>
          </a:prstGeom>
          <a:noFill/>
          <a:ln w="15875">
            <a:solidFill>
              <a:srgbClr val="D9DEE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2331720"/>
            <a:ext cx="868680" cy="868680"/>
          </a:xfrm>
          <a:prstGeom prst="ellipse">
            <a:avLst/>
          </a:prstGeom>
          <a:solidFill>
            <a:srgbClr val="2557D6"/>
          </a:solidFill>
          <a:ln w="12700">
            <a:solidFill>
              <a:srgbClr val="2557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401568"/>
            <a:ext cx="1234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Ask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167128" y="2331720"/>
            <a:ext cx="868680" cy="868680"/>
          </a:xfrm>
          <a:prstGeom prst="ellipse">
            <a:avLst/>
          </a:prstGeom>
          <a:solidFill>
            <a:srgbClr val="13A8B8"/>
          </a:solidFill>
          <a:ln w="12700">
            <a:solidFill>
              <a:srgbClr val="13A8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84248" y="3401568"/>
            <a:ext cx="1234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Clarify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675888" y="2331720"/>
            <a:ext cx="868680" cy="868680"/>
          </a:xfrm>
          <a:prstGeom prst="ellipse">
            <a:avLst/>
          </a:prstGeom>
          <a:solidFill>
            <a:srgbClr val="6A5AE0"/>
          </a:solidFill>
          <a:ln w="12700">
            <a:solidFill>
              <a:srgbClr val="6A5A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3401568"/>
            <a:ext cx="1234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Retrieve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184648" y="2331720"/>
            <a:ext cx="868680" cy="868680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3401568"/>
            <a:ext cx="1234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Check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693408" y="2331720"/>
            <a:ext cx="868680" cy="868680"/>
          </a:xfrm>
          <a:prstGeom prst="ellipse">
            <a:avLst/>
          </a:prstGeom>
          <a:solidFill>
            <a:srgbClr val="E09B22"/>
          </a:solidFill>
          <a:ln w="12700">
            <a:solidFill>
              <a:srgbClr val="E09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3401568"/>
            <a:ext cx="1234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Act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202168" y="2331720"/>
            <a:ext cx="868680" cy="868680"/>
          </a:xfrm>
          <a:prstGeom prst="ellipse">
            <a:avLst/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19288" y="3401568"/>
            <a:ext cx="1234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Verify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710928" y="2331720"/>
            <a:ext cx="868680" cy="868680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3401568"/>
            <a:ext cx="1234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Escalate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4400" y="4251960"/>
            <a:ext cx="52578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Collect deployment, namespace, environment, and error message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Check deployment or pipeline status through approved read-only tools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Match errors to known runbooks and approved docs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Recommend safe next steps or create a support handoff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766560" y="4069080"/>
            <a:ext cx="4297680" cy="1719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Required fields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Decision points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Tool calls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Approval gates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Success criteria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Fallback path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567160" y="64465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knowledge, data, and tools separately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275"/>
                </a:solidFill>
              </a:rPr>
              <a:t>The agent needs grounded content, governed access, and controlled actions.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246120" cy="109728"/>
          </a:xfrm>
          <a:prstGeom prst="rect">
            <a:avLst/>
          </a:prstGeom>
          <a:solidFill>
            <a:srgbClr val="2557D6"/>
          </a:solidFill>
          <a:ln w="12700">
            <a:solidFill>
              <a:srgbClr val="2557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Knowledge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96275"/>
                </a:solidFill>
              </a:rPr>
              <a:t>Docs, runbooks, FAQs, API specs, release notes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Chunking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Metadata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4032504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Freshness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4562856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Ownership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26280" y="1325880"/>
            <a:ext cx="3246120" cy="109728"/>
          </a:xfrm>
          <a:prstGeom prst="rect">
            <a:avLst/>
          </a:prstGeom>
          <a:solidFill>
            <a:srgbClr val="13A8B8"/>
          </a:solidFill>
          <a:ln w="12700">
            <a:solidFill>
              <a:srgbClr val="13A8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Data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526280" y="2057400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96275"/>
                </a:solidFill>
              </a:rPr>
              <a:t>User context, status, logs, tickets, workflow state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Classification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Redaction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26280" y="4032504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Retention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6280" y="4562856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Permissions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321040" y="1325880"/>
            <a:ext cx="3246120" cy="109728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</a:rPr>
              <a:t>Tools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8321040" y="2057400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96275"/>
                </a:solidFill>
              </a:rPr>
              <a:t>Search, status lookup, ticketing, validation, workflow APIs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Schemas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21040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RBAC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21040" y="4032504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Audit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21040" y="4562856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</a:rPr>
              <a:t>Approvals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4400" y="58978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94747"/>
                </a:solidFill>
              </a:rPr>
              <a:t>Bad retrieval or unconstrained tools are usually bigger risks than model choice.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11567160" y="64465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Guardrails must exist at every layer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275"/>
                </a:solidFill>
              </a:rPr>
              <a:t>Security-critical boundaries should be enforced in code, not just instructions.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1920240" cy="438912"/>
          </a:xfrm>
          <a:prstGeom prst="rect">
            <a:avLst/>
          </a:prstGeom>
          <a:solidFill>
            <a:srgbClr val="2557D6"/>
          </a:solidFill>
          <a:ln w="12700">
            <a:solidFill>
              <a:srgbClr val="2557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35024"/>
            <a:ext cx="1737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71800" y="12984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Prompt injection, secret detection, intent classification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2112264"/>
            <a:ext cx="1920240" cy="438912"/>
          </a:xfrm>
          <a:prstGeom prst="rect">
            <a:avLst/>
          </a:prstGeom>
          <a:solidFill>
            <a:srgbClr val="13A8B8"/>
          </a:solidFill>
          <a:ln w="12700">
            <a:solidFill>
              <a:srgbClr val="13A8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12848"/>
            <a:ext cx="1737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Retrieval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71800" y="21762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Authorized sources, freshness, citations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77240" y="2990088"/>
            <a:ext cx="1920240" cy="438912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90672"/>
            <a:ext cx="1737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Tool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71800" y="3054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Allowlist, schema validation, RBAC, approvals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77240" y="3867912"/>
            <a:ext cx="1920240" cy="438912"/>
          </a:xfrm>
          <a:prstGeom prst="rect">
            <a:avLst/>
          </a:prstGeom>
          <a:solidFill>
            <a:srgbClr val="E09B22"/>
          </a:solidFill>
          <a:ln w="12700">
            <a:solidFill>
              <a:srgbClr val="E09B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68496"/>
            <a:ext cx="1737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71800" y="3931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No secrets, grounded answers, uncertainty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77240" y="4745736"/>
            <a:ext cx="1920240" cy="438912"/>
          </a:xfrm>
          <a:prstGeom prst="rect">
            <a:avLst/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46320"/>
            <a:ext cx="1737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Runtime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71800" y="48097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Timeouts, cost limits, loop prevention, audit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914400" y="5879592"/>
            <a:ext cx="101498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144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4747"/>
                </a:solidFill>
              </a:rPr>
              <a:t>Sensitive action rule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017520" y="61447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Validate permission → explain action → require confirmation → execute through approved tool → log result.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567160" y="64465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Evaluate the workflow, not just the answer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275"/>
                </a:solidFill>
              </a:rPr>
              <a:t>Agent quality is measured across multi-step behavior.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57D6"/>
                </a:solidFill>
              </a:rPr>
              <a:t>Product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237744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Task completion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Onboarding time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Ticket deflection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Self-service success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56616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A8B8"/>
                </a:solidFill>
              </a:rPr>
              <a:t>Operational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566160" y="1783080"/>
            <a:ext cx="237744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Latency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Tool success rate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Cost per conversation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Escalation rate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5508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8A5A"/>
                </a:solidFill>
              </a:rPr>
              <a:t>Quality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355080" y="1783080"/>
            <a:ext cx="237744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Grounded answer rate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Citation accuracy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Workflow accuracy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Human override rate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4747"/>
                </a:solidFill>
              </a:rPr>
              <a:t>Risk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0" y="1783080"/>
            <a:ext cx="237744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Blocked actions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Permission failures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Policy violations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Injection attempts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105156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370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Evaluation dataset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77640" y="4315968"/>
            <a:ext cx="70408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Golden questions and expected answers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Tool-call scenarios and edge cases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Adversarial prompts and permission tests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172033"/>
                </a:solidFill>
              </a:rPr>
              <a:t>Support-team review of handoff quality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567160" y="64465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from MVP to production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275"/>
                </a:solidFill>
              </a:rPr>
              <a:t>Start constrained, prove value, then add controlled agency.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1783080" cy="960120"/>
          </a:xfrm>
          <a:prstGeom prst="chevron">
            <a:avLst/>
          </a:prstGeom>
          <a:solidFill>
            <a:srgbClr val="DDE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2276856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57D6"/>
                </a:solidFill>
              </a:rPr>
              <a:t>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226771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Discovery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" y="3429000"/>
            <a:ext cx="166420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96275"/>
                </a:solidFill>
              </a:rPr>
              <a:t>Top intents, tickets, content inventory, risks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14600" y="2148840"/>
            <a:ext cx="1783080" cy="960120"/>
          </a:xfrm>
          <a:prstGeom prst="chevron">
            <a:avLst/>
          </a:prstGeom>
          <a:solidFill>
            <a:srgbClr val="DDE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2276856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57D6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07792" y="226771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Knowledge assistant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9464" y="3429000"/>
            <a:ext cx="166420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96275"/>
                </a:solidFill>
              </a:rPr>
              <a:t>RAG, citations, feedback, analytics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34840" y="2148840"/>
            <a:ext cx="1783080" cy="960120"/>
          </a:xfrm>
          <a:prstGeom prst="chevron">
            <a:avLst/>
          </a:prstGeom>
          <a:solidFill>
            <a:srgbClr val="DDF6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2276856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A8B8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28032" y="226771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Guided workflows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9704" y="3429000"/>
            <a:ext cx="166420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96275"/>
                </a:solidFill>
              </a:rPr>
              <a:t>Onboarding and troubleshooting flows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55080" y="2148840"/>
            <a:ext cx="1783080" cy="960120"/>
          </a:xfrm>
          <a:prstGeom prst="chevron">
            <a:avLst/>
          </a:prstGeom>
          <a:solidFill>
            <a:srgbClr val="DDF6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276856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A8B8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48272" y="226771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Read-only tools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9944" y="3429000"/>
            <a:ext cx="166420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96275"/>
                </a:solidFill>
              </a:rPr>
              <a:t>Status lookup, access check, known errors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75320" y="2148840"/>
            <a:ext cx="1783080" cy="960120"/>
          </a:xfrm>
          <a:prstGeom prst="chevron">
            <a:avLst/>
          </a:prstGeom>
          <a:solidFill>
            <a:srgbClr val="E8F5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8472" y="2276856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8A5A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68512" y="226771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Controlled actions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30184" y="3429000"/>
            <a:ext cx="166420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96275"/>
                </a:solidFill>
              </a:rPr>
              <a:t>Ticket/request creation with approval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195560" y="2148840"/>
            <a:ext cx="1783080" cy="960120"/>
          </a:xfrm>
          <a:prstGeom prst="chevron">
            <a:avLst/>
          </a:prstGeom>
          <a:solidFill>
            <a:srgbClr val="E8F5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68712" y="2276856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8A5A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588752" y="226771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Optimize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50424" y="3429000"/>
            <a:ext cx="166420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96275"/>
                </a:solidFill>
              </a:rPr>
              <a:t>Evals, red-team, cost, latency, personalization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4965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033"/>
                </a:solidFill>
              </a:rPr>
              <a:t>Recommended MVP scope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3886200" y="505663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Embedded chat + approved docs + source citations + guided onboarding + troubleshooting Q&amp;A + ticket summary generation.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567160" y="64465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and operating model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275"/>
                </a:solidFill>
              </a:rPr>
              <a:t>Agentic AI requires product, platform, security, support, and governance alignment.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658368" cy="658368"/>
          </a:xfrm>
          <a:prstGeom prst="ellipse">
            <a:avLst/>
          </a:prstGeom>
          <a:solidFill>
            <a:srgbClr val="2557D6"/>
          </a:solidFill>
          <a:ln w="12700">
            <a:solidFill>
              <a:srgbClr val="2557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399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Product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45920" y="181965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96275"/>
                </a:solidFill>
              </a:rPr>
              <a:t>Scope, KPIs, roadmap, workflow value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26280" y="1417320"/>
            <a:ext cx="658368" cy="658368"/>
          </a:xfrm>
          <a:prstGeom prst="ellipse">
            <a:avLst/>
          </a:prstGeom>
          <a:solidFill>
            <a:srgbClr val="13A8B8"/>
          </a:solidFill>
          <a:ln w="12700">
            <a:solidFill>
              <a:srgbClr val="13A8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1399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Architecture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394960" y="181965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96275"/>
                </a:solidFill>
              </a:rPr>
              <a:t>System design, integration strategy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75320" y="1417320"/>
            <a:ext cx="658368" cy="658368"/>
          </a:xfrm>
          <a:prstGeom prst="ellipse">
            <a:avLst/>
          </a:prstGeom>
          <a:solidFill>
            <a:srgbClr val="6A5AE0"/>
          </a:solidFill>
          <a:ln w="12700">
            <a:solidFill>
              <a:srgbClr val="6A5A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1399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AI / ML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0" y="181965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96275"/>
                </a:solidFill>
              </a:rPr>
              <a:t>Model use, retrieval, evals, prompts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3246120"/>
            <a:ext cx="658368" cy="658368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3227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Engineering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45920" y="364845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96275"/>
                </a:solidFill>
              </a:rPr>
              <a:t>Backend, UI, tools, deployment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26280" y="3246120"/>
            <a:ext cx="658368" cy="658368"/>
          </a:xfrm>
          <a:prstGeom prst="ellipse">
            <a:avLst/>
          </a:prstGeom>
          <a:solidFill>
            <a:srgbClr val="C94747"/>
          </a:solidFill>
          <a:ln w="12700">
            <a:solidFill>
              <a:srgbClr val="C947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3227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Security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394960" y="364845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96275"/>
                </a:solidFill>
              </a:rPr>
              <a:t>Threat model, RBAC, risk controls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75320" y="3246120"/>
            <a:ext cx="658368" cy="658368"/>
          </a:xfrm>
          <a:prstGeom prst="ellipse">
            <a:avLst/>
          </a:prstGeom>
          <a:solidFill>
            <a:srgbClr val="E09B22"/>
          </a:solidFill>
          <a:ln w="12700">
            <a:solidFill>
              <a:srgbClr val="E09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3227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Support / SME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44000" y="3648456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96275"/>
                </a:solidFill>
              </a:rPr>
              <a:t>Content validation, escalation quality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68680" y="5577840"/>
            <a:ext cx="103784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897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4747"/>
                </a:solidFill>
              </a:rPr>
              <a:t>Ownership rule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834640" y="5897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</a:rPr>
              <a:t>Every workflow, document source, and tool must have an accountable owner before launch.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567160" y="64465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readiness checklist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6275"/>
                </a:solidFill>
              </a:rPr>
              <a:t>A concise way to pressure-test whether the agent is ready for real users.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301752" cy="301752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" y="12527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12070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Clear use cases and non-goals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301752" cy="301752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9652" y="12527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12280" y="12070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Approved knowledge sources and owners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2286000"/>
            <a:ext cx="301752" cy="301752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" y="2304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25856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Tool allowlist with permission checks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301752" cy="301752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9652" y="2304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225856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Human approval for sensitive actions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22960" y="3337560"/>
            <a:ext cx="301752" cy="301752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" y="3355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3101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Evaluation set and red-team tests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309360" y="3337560"/>
            <a:ext cx="301752" cy="301752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9652" y="3355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33101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Observability, audit logs, and KPIs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22960" y="4389120"/>
            <a:ext cx="301752" cy="301752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252" y="4407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43616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Fallback and support handoff path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309360" y="4389120"/>
            <a:ext cx="301752" cy="301752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9652" y="4407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43616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033"/>
                </a:solidFill>
              </a:rPr>
              <a:t>Content freshness and release process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68680" y="55595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57D6"/>
                </a:solidFill>
              </a:rPr>
              <a:t>Bottom line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2971800" y="56052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A real agentic AI product is a governed workflow system where the model can reason, retrieve, act through approved tools, validate results, and escalate safely.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1567160" y="644652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 Blueprint</dc:title>
  <dc:subject>Agentic AI Application Blueprint</dc:subject>
  <dc:creator>OpenAI</dc:creator>
  <cp:lastModifiedBy>OpenAI</cp:lastModifiedBy>
  <cp:revision>1</cp:revision>
  <dcterms:created xsi:type="dcterms:W3CDTF">2026-05-15T19:36:16Z</dcterms:created>
  <dcterms:modified xsi:type="dcterms:W3CDTF">2026-05-15T19:36:16Z</dcterms:modified>
</cp:coreProperties>
</file>