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1: Sanitized portfolio version. Replace sample content with your specific non-confidential work sample details if needed.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2: Sanitized portfolio version. Replace sample content with your specific non-confidential work sample details if needed.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3: Sanitized portfolio version. Replace sample content with your specific non-confidential work sample details if needed.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4: Sanitized portfolio version. Replace sample content with your specific non-confidential work sample details if needed.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5: Sanitized portfolio version. Replace sample content with your specific non-confidential work sample details if needed.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6: Sanitized portfolio version. Replace sample content with your specific non-confidential work sample details if needed.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7: Sanitized portfolio version. Replace sample content with your specific non-confidential work sample details if needed.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8: Sanitized portfolio version. Replace sample content with your specific non-confidential work sample details if needed.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9: Sanitized portfolio version. Replace sample content with your specific non-confidential work sample details if needed.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10: Sanitized portfolio version. Replace sample content with your specific non-confidential work sample details if needed.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731520"/>
            <a:ext cx="7406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0B1220"/>
                </a:solidFill>
              </a:rPr>
              <a:t>Release Kickoff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58368" y="1444752"/>
            <a:ext cx="6492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475569"/>
                </a:solidFill>
              </a:rPr>
              <a:t>Sanitized work sample for GitHub portfolio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658368" y="2121408"/>
            <a:ext cx="1645920" cy="310896"/>
          </a:xfrm>
          <a:prstGeom prst="rect">
            <a:avLst/>
          </a:prstGeom>
          <a:solidFill>
            <a:srgbClr val="FFFFFF"/>
          </a:solidFill>
          <a:ln>
            <a:solidFill>
              <a:srgbClr val="2563EB">
                <a:alpha val="40000"/>
              </a:srgbClr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</a:rPr>
              <a:t>PROGRAM MANAGEMENT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468880" y="2121408"/>
            <a:ext cx="1554480" cy="310896"/>
          </a:xfrm>
          <a:prstGeom prst="rect">
            <a:avLst/>
          </a:prstGeom>
          <a:solidFill>
            <a:srgbClr val="FFFFFF"/>
          </a:solidFill>
          <a:ln>
            <a:solidFill>
              <a:srgbClr val="10B981">
                <a:alpha val="40000"/>
              </a:srgbClr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B981"/>
                </a:solidFill>
              </a:rPr>
              <a:t>RELEASE READINESS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187952" y="2121408"/>
            <a:ext cx="2057400" cy="310896"/>
          </a:xfrm>
          <a:prstGeom prst="rect">
            <a:avLst/>
          </a:prstGeom>
          <a:solidFill>
            <a:srgbClr val="FFFFFF"/>
          </a:solidFill>
          <a:ln>
            <a:solidFill>
              <a:srgbClr val="7C3AED">
                <a:alpha val="40000"/>
              </a:srgbClr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C3AED"/>
                </a:solidFill>
              </a:rPr>
              <a:t>CROSS-FUNCTIONAL DELIVERY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58368" y="306324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220"/>
                </a:solidFill>
              </a:rPr>
              <a:t>Purpose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58368" y="3456432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0B1220"/>
                </a:solidFill>
              </a:rPr>
              <a:t>Align teams on scope, schedule, risks, dependencies, and release governance before execution begins.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498080" y="5166360"/>
            <a:ext cx="3931920" cy="6858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Modernized from an older release kickoff deck. Names, internal URLs, customer references, and proprietary identifiers have been removed.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02920" y="6510528"/>
            <a:ext cx="6217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Sanitized GitHub work sample • Confidential details removed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11155680" y="6510528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1</a:t>
            </a:r>
            <a:endParaRPr lang="en-US" sz="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2563EB"/>
                </a:solidFill>
              </a:rPr>
              <a:t>RELEASE KICKOFF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02920" y="585216"/>
            <a:ext cx="8686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B1220"/>
                </a:solidFill>
              </a:rPr>
              <a:t>Kickoff Objectives &amp; Agenda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115568"/>
            <a:ext cx="111556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463040"/>
            <a:ext cx="3154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B1220"/>
                </a:solidFill>
              </a:rPr>
              <a:t>Objectives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85800" y="1847088"/>
            <a:ext cx="3154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Confirm release goals, delivery model, and scope boundaries.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685800" y="2606040"/>
            <a:ext cx="3154680" cy="0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480560" y="1463040"/>
            <a:ext cx="3154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B1220"/>
                </a:solidFill>
              </a:rPr>
              <a:t>Plan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480560" y="1847088"/>
            <a:ext cx="3154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Review milestones, team deliverables, dependencies, and readiness gates.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480560" y="2606040"/>
            <a:ext cx="3154680" cy="0"/>
          </a:xfrm>
          <a:prstGeom prst="line">
            <a:avLst/>
          </a:prstGeom>
          <a:noFill/>
          <a:ln w="25400">
            <a:solidFill>
              <a:srgbClr val="10B98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75320" y="1463040"/>
            <a:ext cx="3154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B1220"/>
                </a:solidFill>
              </a:rPr>
              <a:t>Governance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275320" y="1847088"/>
            <a:ext cx="3154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Align on branching, build cadence, decision points, and escalation paths.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275320" y="2606040"/>
            <a:ext cx="3154680" cy="0"/>
          </a:xfrm>
          <a:prstGeom prst="line">
            <a:avLst/>
          </a:prstGeom>
          <a:noFill/>
          <a:ln w="25400">
            <a:solidFill>
              <a:srgbClr val="7C3AE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8680" y="3310128"/>
            <a:ext cx="4800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B1220"/>
                </a:solidFill>
              </a:rPr>
              <a:t>Agenda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68680" y="3730752"/>
            <a:ext cx="4800600" cy="19110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• Release timeline and readiness gates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• Workstream deliverables and ownership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• Dependencies, risks, and mitigations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• Branching / build management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• Open questions and decisions needed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868680" y="5678424"/>
            <a:ext cx="4800600" cy="0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37960" y="3310128"/>
            <a:ext cx="4800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B1220"/>
                </a:solidFill>
              </a:rPr>
              <a:t>Sanitization applied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537960" y="3730752"/>
            <a:ext cx="4800600" cy="19110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• Specific customer names replaced with segments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• Internal links and aliases removed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• Ticket IDs generalized or omitted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• Old visual styling replaced with clean template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537960" y="5678424"/>
            <a:ext cx="4800600" cy="0"/>
          </a:xfrm>
          <a:prstGeom prst="line">
            <a:avLst/>
          </a:prstGeom>
          <a:noFill/>
          <a:ln w="25400">
            <a:solidFill>
              <a:srgbClr val="10B98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6510528"/>
            <a:ext cx="6217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Sanitized GitHub work sample • Confidential details removed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11155680" y="6510528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2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2563EB"/>
                </a:solidFill>
              </a:rPr>
              <a:t>RELEASE KICKOFF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02920" y="585216"/>
            <a:ext cx="8686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B1220"/>
                </a:solidFill>
              </a:rPr>
              <a:t>Release Schedule At A Glance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115568"/>
            <a:ext cx="111556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95528" y="2304288"/>
            <a:ext cx="10744200" cy="0"/>
          </a:xfrm>
          <a:prstGeom prst="line">
            <a:avLst/>
          </a:prstGeom>
          <a:noFill/>
          <a:ln w="2540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51560" y="2103120"/>
            <a:ext cx="384048" cy="38404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2670048"/>
            <a:ext cx="12618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1220"/>
                </a:solidFill>
              </a:rPr>
              <a:t>Code &amp; Merge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58368" y="3063240"/>
            <a:ext cx="1261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Aug–Nov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496312" y="2103120"/>
            <a:ext cx="384048" cy="384048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103120" y="2670048"/>
            <a:ext cx="12618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1220"/>
                </a:solidFill>
              </a:rPr>
              <a:t>Feature Test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103120" y="3063240"/>
            <a:ext cx="1261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Nov–Dec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941064" y="2103120"/>
            <a:ext cx="384048" cy="38404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547872" y="2670048"/>
            <a:ext cx="12618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1220"/>
                </a:solidFill>
              </a:rPr>
              <a:t>Integration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547872" y="3063240"/>
            <a:ext cx="1261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Dec–Jan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5385816" y="2103120"/>
            <a:ext cx="384048" cy="38404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92624" y="2670048"/>
            <a:ext cx="12618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1220"/>
                </a:solidFill>
              </a:rPr>
              <a:t>Regression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992624" y="3063240"/>
            <a:ext cx="1261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Jan–Feb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6830568" y="2103120"/>
            <a:ext cx="384048" cy="38404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37376" y="2670048"/>
            <a:ext cx="12618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1220"/>
                </a:solidFill>
              </a:rPr>
              <a:t>Final Builds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437376" y="3063240"/>
            <a:ext cx="1261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Feb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8275320" y="2103120"/>
            <a:ext cx="384048" cy="38404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882128" y="2670048"/>
            <a:ext cx="12618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1220"/>
                </a:solidFill>
              </a:rPr>
              <a:t>Staging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882128" y="3063240"/>
            <a:ext cx="1261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Feb–Mar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9720072" y="2103120"/>
            <a:ext cx="384048" cy="38404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326880" y="2670048"/>
            <a:ext cx="12618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1220"/>
                </a:solidFill>
              </a:rPr>
              <a:t>Beta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9326880" y="3063240"/>
            <a:ext cx="1261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Mar–Apr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11164824" y="2103120"/>
            <a:ext cx="384048" cy="384048"/>
          </a:xfrm>
          <a:prstGeom prst="ellipse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771632" y="2670048"/>
            <a:ext cx="12618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1220"/>
                </a:solidFill>
              </a:rPr>
              <a:t>Production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0771632" y="3063240"/>
            <a:ext cx="1261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Apr–May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777240" y="41605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220"/>
                </a:solidFill>
              </a:rPr>
              <a:t>Planning principle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777240" y="4572000"/>
            <a:ext cx="10149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0B1220"/>
                </a:solidFill>
              </a:rPr>
              <a:t>Use gates to make release health visible early: feature completion, integration stability, regression readiness, staging confidence, and production go/no-go.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502920" y="6510528"/>
            <a:ext cx="6217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Sanitized GitHub work sample • Confidential details removed</a:t>
            </a:r>
            <a:endParaRPr lang="en-US" sz="700" dirty="0"/>
          </a:p>
        </p:txBody>
      </p:sp>
      <p:sp>
        <p:nvSpPr>
          <p:cNvPr id="33" name="Text 31"/>
          <p:cNvSpPr/>
          <p:nvPr/>
        </p:nvSpPr>
        <p:spPr>
          <a:xfrm>
            <a:off x="11155680" y="6510528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3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2563EB"/>
                </a:solidFill>
              </a:rPr>
              <a:t>RELEASE KICKOFF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02920" y="585216"/>
            <a:ext cx="8686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B1220"/>
                </a:solidFill>
              </a:rPr>
              <a:t>Workstream Overview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115568"/>
            <a:ext cx="111556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417320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B1220"/>
                </a:solidFill>
              </a:rPr>
              <a:t>Analytics &amp; Data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77240" y="1801368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Central ingestion, data utilities, search terms, scale validation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777240" y="2240280"/>
            <a:ext cx="4754880" cy="0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0" y="1417320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B1220"/>
                </a:solidFill>
              </a:rPr>
              <a:t>Network Services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0" y="1801368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URL filtering, private network routing, profile management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400800" y="2240280"/>
            <a:ext cx="4754880" cy="0"/>
          </a:xfrm>
          <a:prstGeom prst="line">
            <a:avLst/>
          </a:prstGeom>
          <a:noFill/>
          <a:ln w="25400">
            <a:solidFill>
              <a:srgbClr val="10B98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2834640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B1220"/>
                </a:solidFill>
              </a:rPr>
              <a:t>Device Platform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77240" y="3218688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Small-form-factor device support, logging, packaging, configuration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777240" y="3657600"/>
            <a:ext cx="4754880" cy="0"/>
          </a:xfrm>
          <a:prstGeom prst="line">
            <a:avLst/>
          </a:prstGeom>
          <a:noFill/>
          <a:ln w="25400">
            <a:solidFill>
              <a:srgbClr val="7C3AE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0" y="2834640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B1220"/>
                </a:solidFill>
              </a:rPr>
              <a:t>Security &amp; Reliability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00800" y="3218688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Auditability, hardening, resilience, dependency cleanup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400800" y="3657600"/>
            <a:ext cx="4754880" cy="0"/>
          </a:xfrm>
          <a:prstGeom prst="line">
            <a:avLst/>
          </a:prstGeom>
          <a:noFill/>
          <a:ln w="25400">
            <a:solidFill>
              <a:srgbClr val="F59E0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4251960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B1220"/>
                </a:solidFill>
              </a:rPr>
              <a:t>Release Engineering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77240" y="4636008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Kernel / package upgrades, branching, builds, smoke-test criteria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777240" y="5074920"/>
            <a:ext cx="4754880" cy="0"/>
          </a:xfrm>
          <a:prstGeom prst="line">
            <a:avLst/>
          </a:prstGeom>
          <a:noFill/>
          <a:ln w="25400">
            <a:solidFill>
              <a:srgbClr val="0EA5E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0" y="4251960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B1220"/>
                </a:solidFill>
              </a:rPr>
              <a:t>Connectivity Innovation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400800" y="4636008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Evaluation of multi-transport connectivity and integration options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400800" y="5074920"/>
            <a:ext cx="4754880" cy="0"/>
          </a:xfrm>
          <a:prstGeom prst="line">
            <a:avLst/>
          </a:prstGeom>
          <a:noFill/>
          <a:ln w="25400">
            <a:solidFill>
              <a:srgbClr val="0B122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" y="6510528"/>
            <a:ext cx="6217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Sanitized GitHub work sample • Confidential details removed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11155680" y="6510528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4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2563EB"/>
                </a:solidFill>
              </a:rPr>
              <a:t>RELEASE KICKOFF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02920" y="585216"/>
            <a:ext cx="8686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B1220"/>
                </a:solidFill>
              </a:rPr>
              <a:t>Deliverable Review Format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115568"/>
            <a:ext cx="111556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417320"/>
            <a:ext cx="1691640" cy="329184"/>
          </a:xfrm>
          <a:prstGeom prst="rect">
            <a:avLst/>
          </a:prstGeom>
          <a:solidFill>
            <a:srgbClr val="DBEAFE"/>
          </a:solidFill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B1220"/>
                </a:solidFill>
              </a:rPr>
              <a:t>Workstream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880360" y="1417320"/>
            <a:ext cx="1828800" cy="329184"/>
          </a:xfrm>
          <a:prstGeom prst="rect">
            <a:avLst/>
          </a:prstGeom>
          <a:solidFill>
            <a:srgbClr val="DBEAFE"/>
          </a:solidFill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B1220"/>
                </a:solidFill>
              </a:rPr>
              <a:t>Feature Summary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166360" y="1417320"/>
            <a:ext cx="1828800" cy="329184"/>
          </a:xfrm>
          <a:prstGeom prst="rect">
            <a:avLst/>
          </a:prstGeom>
          <a:solidFill>
            <a:srgbClr val="DBEAFE"/>
          </a:solidFill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B1220"/>
                </a:solidFill>
              </a:rPr>
              <a:t>Implementation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406640" y="1417320"/>
            <a:ext cx="1828800" cy="329184"/>
          </a:xfrm>
          <a:prstGeom prst="rect">
            <a:avLst/>
          </a:prstGeom>
          <a:solidFill>
            <a:srgbClr val="DBEAFE"/>
          </a:solidFill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B1220"/>
                </a:solidFill>
              </a:rPr>
              <a:t>Dependencies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646920" y="1417320"/>
            <a:ext cx="1828800" cy="329184"/>
          </a:xfrm>
          <a:prstGeom prst="rect">
            <a:avLst/>
          </a:prstGeom>
          <a:solidFill>
            <a:srgbClr val="DBEAFE"/>
          </a:solidFill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B1220"/>
                </a:solidFill>
              </a:rPr>
              <a:t>Risks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31520" y="1920240"/>
            <a:ext cx="1691640" cy="53035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0B1220"/>
                </a:solidFill>
              </a:rPr>
              <a:t>Analytics</a:t>
            </a:r>
            <a:endParaRPr lang="en-US" sz="880" dirty="0"/>
          </a:p>
        </p:txBody>
      </p:sp>
      <p:sp>
        <p:nvSpPr>
          <p:cNvPr id="11" name="Text 9"/>
          <p:cNvSpPr/>
          <p:nvPr/>
        </p:nvSpPr>
        <p:spPr>
          <a:xfrm>
            <a:off x="2880360" y="1920240"/>
            <a:ext cx="1828800" cy="53035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475569"/>
                </a:solidFill>
              </a:rPr>
              <a:t>Central ingestion and utility integration</a:t>
            </a:r>
            <a:endParaRPr lang="en-US" sz="880" dirty="0"/>
          </a:p>
        </p:txBody>
      </p:sp>
      <p:sp>
        <p:nvSpPr>
          <p:cNvPr id="12" name="Text 10"/>
          <p:cNvSpPr/>
          <p:nvPr/>
        </p:nvSpPr>
        <p:spPr>
          <a:xfrm>
            <a:off x="5166360" y="1920240"/>
            <a:ext cx="1828800" cy="53035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475569"/>
                </a:solidFill>
              </a:rPr>
              <a:t>POC → plugin build → scale test</a:t>
            </a:r>
            <a:endParaRPr lang="en-US" sz="880" dirty="0"/>
          </a:p>
        </p:txBody>
      </p:sp>
      <p:sp>
        <p:nvSpPr>
          <p:cNvPr id="13" name="Text 11"/>
          <p:cNvSpPr/>
          <p:nvPr/>
        </p:nvSpPr>
        <p:spPr>
          <a:xfrm>
            <a:off x="7406640" y="1920240"/>
            <a:ext cx="1828800" cy="53035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475569"/>
                </a:solidFill>
              </a:rPr>
              <a:t>Data platform + network provisioning</a:t>
            </a:r>
            <a:endParaRPr lang="en-US" sz="880" dirty="0"/>
          </a:p>
        </p:txBody>
      </p:sp>
      <p:sp>
        <p:nvSpPr>
          <p:cNvPr id="14" name="Text 12"/>
          <p:cNvSpPr/>
          <p:nvPr/>
        </p:nvSpPr>
        <p:spPr>
          <a:xfrm>
            <a:off x="9646920" y="1920240"/>
            <a:ext cx="1828800" cy="53035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475569"/>
                </a:solidFill>
              </a:rPr>
              <a:t>Infra availability and scaling assumptions</a:t>
            </a:r>
            <a:endParaRPr lang="en-US" sz="880" dirty="0"/>
          </a:p>
        </p:txBody>
      </p:sp>
      <p:sp>
        <p:nvSpPr>
          <p:cNvPr id="15" name="Shape 13"/>
          <p:cNvSpPr/>
          <p:nvPr/>
        </p:nvSpPr>
        <p:spPr>
          <a:xfrm>
            <a:off x="731520" y="2578608"/>
            <a:ext cx="1074420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1520" y="2788920"/>
            <a:ext cx="1691640" cy="53035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0B1220"/>
                </a:solidFill>
              </a:rPr>
              <a:t>Network Services</a:t>
            </a:r>
            <a:endParaRPr lang="en-US" sz="880" dirty="0"/>
          </a:p>
        </p:txBody>
      </p:sp>
      <p:sp>
        <p:nvSpPr>
          <p:cNvPr id="17" name="Text 15"/>
          <p:cNvSpPr/>
          <p:nvPr/>
        </p:nvSpPr>
        <p:spPr>
          <a:xfrm>
            <a:off x="2880360" y="2788920"/>
            <a:ext cx="1828800" cy="53035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475569"/>
                </a:solidFill>
              </a:rPr>
              <a:t>URL filtering and private network support</a:t>
            </a:r>
            <a:endParaRPr lang="en-US" sz="880" dirty="0"/>
          </a:p>
        </p:txBody>
      </p:sp>
      <p:sp>
        <p:nvSpPr>
          <p:cNvPr id="18" name="Text 16"/>
          <p:cNvSpPr/>
          <p:nvPr/>
        </p:nvSpPr>
        <p:spPr>
          <a:xfrm>
            <a:off x="5166360" y="2788920"/>
            <a:ext cx="1828800" cy="53035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475569"/>
                </a:solidFill>
              </a:rPr>
              <a:t>Policy model + routing profile updates</a:t>
            </a:r>
            <a:endParaRPr lang="en-US" sz="880" dirty="0"/>
          </a:p>
        </p:txBody>
      </p:sp>
      <p:sp>
        <p:nvSpPr>
          <p:cNvPr id="19" name="Text 17"/>
          <p:cNvSpPr/>
          <p:nvPr/>
        </p:nvSpPr>
        <p:spPr>
          <a:xfrm>
            <a:off x="7406640" y="2788920"/>
            <a:ext cx="1828800" cy="53035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475569"/>
                </a:solidFill>
              </a:rPr>
              <a:t>Security appliance setup</a:t>
            </a:r>
            <a:endParaRPr lang="en-US" sz="880" dirty="0"/>
          </a:p>
        </p:txBody>
      </p:sp>
      <p:sp>
        <p:nvSpPr>
          <p:cNvPr id="20" name="Text 18"/>
          <p:cNvSpPr/>
          <p:nvPr/>
        </p:nvSpPr>
        <p:spPr>
          <a:xfrm>
            <a:off x="9646920" y="2788920"/>
            <a:ext cx="1828800" cy="53035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475569"/>
                </a:solidFill>
              </a:rPr>
              <a:t>Performance impact and migration gaps</a:t>
            </a:r>
            <a:endParaRPr lang="en-US" sz="880" dirty="0"/>
          </a:p>
        </p:txBody>
      </p:sp>
      <p:sp>
        <p:nvSpPr>
          <p:cNvPr id="21" name="Shape 19"/>
          <p:cNvSpPr/>
          <p:nvPr/>
        </p:nvSpPr>
        <p:spPr>
          <a:xfrm>
            <a:off x="731520" y="3447288"/>
            <a:ext cx="1074420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31520" y="3657600"/>
            <a:ext cx="1691640" cy="53035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0B1220"/>
                </a:solidFill>
              </a:rPr>
              <a:t>Device Platform</a:t>
            </a:r>
            <a:endParaRPr lang="en-US" sz="880" dirty="0"/>
          </a:p>
        </p:txBody>
      </p:sp>
      <p:sp>
        <p:nvSpPr>
          <p:cNvPr id="23" name="Text 21"/>
          <p:cNvSpPr/>
          <p:nvPr/>
        </p:nvSpPr>
        <p:spPr>
          <a:xfrm>
            <a:off x="2880360" y="3657600"/>
            <a:ext cx="1828800" cy="53035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475569"/>
                </a:solidFill>
              </a:rPr>
              <a:t>Small device support and virtual controller options</a:t>
            </a:r>
            <a:endParaRPr lang="en-US" sz="880" dirty="0"/>
          </a:p>
        </p:txBody>
      </p:sp>
      <p:sp>
        <p:nvSpPr>
          <p:cNvPr id="24" name="Text 22"/>
          <p:cNvSpPr/>
          <p:nvPr/>
        </p:nvSpPr>
        <p:spPr>
          <a:xfrm>
            <a:off x="5166360" y="3657600"/>
            <a:ext cx="1828800" cy="53035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475569"/>
                </a:solidFill>
              </a:rPr>
              <a:t>Packaging + config generation</a:t>
            </a:r>
            <a:endParaRPr lang="en-US" sz="880" dirty="0"/>
          </a:p>
        </p:txBody>
      </p:sp>
      <p:sp>
        <p:nvSpPr>
          <p:cNvPr id="25" name="Text 23"/>
          <p:cNvSpPr/>
          <p:nvPr/>
        </p:nvSpPr>
        <p:spPr>
          <a:xfrm>
            <a:off x="7406640" y="3657600"/>
            <a:ext cx="1828800" cy="53035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475569"/>
                </a:solidFill>
              </a:rPr>
              <a:t>Hardware + license readiness</a:t>
            </a:r>
            <a:endParaRPr lang="en-US" sz="880" dirty="0"/>
          </a:p>
        </p:txBody>
      </p:sp>
      <p:sp>
        <p:nvSpPr>
          <p:cNvPr id="26" name="Text 24"/>
          <p:cNvSpPr/>
          <p:nvPr/>
        </p:nvSpPr>
        <p:spPr>
          <a:xfrm>
            <a:off x="9646920" y="3657600"/>
            <a:ext cx="1828800" cy="53035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475569"/>
                </a:solidFill>
              </a:rPr>
              <a:t>Memory / footprint constraints</a:t>
            </a:r>
            <a:endParaRPr lang="en-US" sz="880" dirty="0"/>
          </a:p>
        </p:txBody>
      </p:sp>
      <p:sp>
        <p:nvSpPr>
          <p:cNvPr id="27" name="Shape 25"/>
          <p:cNvSpPr/>
          <p:nvPr/>
        </p:nvSpPr>
        <p:spPr>
          <a:xfrm>
            <a:off x="731520" y="4315968"/>
            <a:ext cx="1074420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31520" y="4526280"/>
            <a:ext cx="1691640" cy="53035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0B1220"/>
                </a:solidFill>
              </a:rPr>
              <a:t>Release Eng.</a:t>
            </a:r>
            <a:endParaRPr lang="en-US" sz="880" dirty="0"/>
          </a:p>
        </p:txBody>
      </p:sp>
      <p:sp>
        <p:nvSpPr>
          <p:cNvPr id="29" name="Text 27"/>
          <p:cNvSpPr/>
          <p:nvPr/>
        </p:nvSpPr>
        <p:spPr>
          <a:xfrm>
            <a:off x="2880360" y="4526280"/>
            <a:ext cx="1828800" cy="53035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475569"/>
                </a:solidFill>
              </a:rPr>
              <a:t>Kernel, package, and branch readiness</a:t>
            </a:r>
            <a:endParaRPr lang="en-US" sz="880" dirty="0"/>
          </a:p>
        </p:txBody>
      </p:sp>
      <p:sp>
        <p:nvSpPr>
          <p:cNvPr id="30" name="Text 28"/>
          <p:cNvSpPr/>
          <p:nvPr/>
        </p:nvSpPr>
        <p:spPr>
          <a:xfrm>
            <a:off x="5166360" y="4526280"/>
            <a:ext cx="1828800" cy="53035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475569"/>
                </a:solidFill>
              </a:rPr>
              <a:t>Build cadence + smoke criteria</a:t>
            </a:r>
            <a:endParaRPr lang="en-US" sz="880" dirty="0"/>
          </a:p>
        </p:txBody>
      </p:sp>
      <p:sp>
        <p:nvSpPr>
          <p:cNvPr id="31" name="Text 29"/>
          <p:cNvSpPr/>
          <p:nvPr/>
        </p:nvSpPr>
        <p:spPr>
          <a:xfrm>
            <a:off x="7406640" y="4526280"/>
            <a:ext cx="1828800" cy="53035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475569"/>
                </a:solidFill>
              </a:rPr>
              <a:t>Cross-branch merge discipline</a:t>
            </a:r>
            <a:endParaRPr lang="en-US" sz="880" dirty="0"/>
          </a:p>
        </p:txBody>
      </p:sp>
      <p:sp>
        <p:nvSpPr>
          <p:cNvPr id="32" name="Text 30"/>
          <p:cNvSpPr/>
          <p:nvPr/>
        </p:nvSpPr>
        <p:spPr>
          <a:xfrm>
            <a:off x="9646920" y="4526280"/>
            <a:ext cx="1828800" cy="53035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475569"/>
                </a:solidFill>
              </a:rPr>
              <a:t>Unknown code references</a:t>
            </a:r>
            <a:endParaRPr lang="en-US" sz="880" dirty="0"/>
          </a:p>
        </p:txBody>
      </p:sp>
      <p:sp>
        <p:nvSpPr>
          <p:cNvPr id="33" name="Shape 31"/>
          <p:cNvSpPr/>
          <p:nvPr/>
        </p:nvSpPr>
        <p:spPr>
          <a:xfrm>
            <a:off x="731520" y="5184648"/>
            <a:ext cx="1074420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31520" y="5715000"/>
            <a:ext cx="9966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0B1220"/>
                </a:solidFill>
              </a:rPr>
              <a:t>Use a consistent template to keep discussions concise and decision-oriented.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502920" y="6510528"/>
            <a:ext cx="6217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Sanitized GitHub work sample • Confidential details removed</a:t>
            </a:r>
            <a:endParaRPr lang="en-US" sz="700" dirty="0"/>
          </a:p>
        </p:txBody>
      </p:sp>
      <p:sp>
        <p:nvSpPr>
          <p:cNvPr id="36" name="Text 34"/>
          <p:cNvSpPr/>
          <p:nvPr/>
        </p:nvSpPr>
        <p:spPr>
          <a:xfrm>
            <a:off x="11155680" y="6510528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5</a:t>
            </a:r>
            <a:endParaRPr lang="en-US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2563EB"/>
                </a:solidFill>
              </a:rPr>
              <a:t>RELEASE KICKOFF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02920" y="585216"/>
            <a:ext cx="8686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B1220"/>
                </a:solidFill>
              </a:rPr>
              <a:t>Dependency &amp; Ownership Map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115568"/>
            <a:ext cx="111556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828800"/>
            <a:ext cx="1965960" cy="320040"/>
          </a:xfrm>
          <a:prstGeom prst="rect">
            <a:avLst/>
          </a:prstGeom>
          <a:solidFill>
            <a:srgbClr val="FFFFFF"/>
          </a:solidFill>
          <a:ln>
            <a:solidFill>
              <a:srgbClr val="2563EB">
                <a:alpha val="60000"/>
              </a:srgbClr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220"/>
                </a:solidFill>
              </a:rPr>
              <a:t>Architecture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22960" y="2286000"/>
            <a:ext cx="1874520" cy="50292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70" dirty="0">
                <a:solidFill>
                  <a:srgbClr val="475569"/>
                </a:solidFill>
              </a:rPr>
              <a:t>Requirements, patterns, design approval</a:t>
            </a:r>
            <a:endParaRPr lang="en-US" sz="870" dirty="0"/>
          </a:p>
        </p:txBody>
      </p:sp>
      <p:sp>
        <p:nvSpPr>
          <p:cNvPr id="7" name="Text 5"/>
          <p:cNvSpPr/>
          <p:nvPr/>
        </p:nvSpPr>
        <p:spPr>
          <a:xfrm>
            <a:off x="3383280" y="1828800"/>
            <a:ext cx="1965960" cy="320040"/>
          </a:xfrm>
          <a:prstGeom prst="rect">
            <a:avLst/>
          </a:prstGeom>
          <a:solidFill>
            <a:srgbClr val="FFFFFF"/>
          </a:solidFill>
          <a:ln>
            <a:solidFill>
              <a:srgbClr val="10B981">
                <a:alpha val="60000"/>
              </a:srgbClr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220"/>
                </a:solidFill>
              </a:rPr>
              <a:t>Engineering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429000" y="2286000"/>
            <a:ext cx="1874520" cy="50292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70" dirty="0">
                <a:solidFill>
                  <a:srgbClr val="475569"/>
                </a:solidFill>
              </a:rPr>
              <a:t>Feature delivery and implementation</a:t>
            </a:r>
            <a:endParaRPr lang="en-US" sz="870" dirty="0"/>
          </a:p>
        </p:txBody>
      </p:sp>
      <p:sp>
        <p:nvSpPr>
          <p:cNvPr id="9" name="Text 7"/>
          <p:cNvSpPr/>
          <p:nvPr/>
        </p:nvSpPr>
        <p:spPr>
          <a:xfrm>
            <a:off x="5989320" y="1828800"/>
            <a:ext cx="1965960" cy="320040"/>
          </a:xfrm>
          <a:prstGeom prst="rect">
            <a:avLst/>
          </a:prstGeom>
          <a:solidFill>
            <a:srgbClr val="FFFFFF"/>
          </a:solidFill>
          <a:ln>
            <a:solidFill>
              <a:srgbClr val="F59E0B">
                <a:alpha val="60000"/>
              </a:srgbClr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220"/>
                </a:solidFill>
              </a:rPr>
              <a:t>QA / Release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035040" y="2286000"/>
            <a:ext cx="1874520" cy="50292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70" dirty="0">
                <a:solidFill>
                  <a:srgbClr val="475569"/>
                </a:solidFill>
              </a:rPr>
              <a:t>Testing and readiness evidence</a:t>
            </a:r>
            <a:endParaRPr lang="en-US" sz="870" dirty="0"/>
          </a:p>
        </p:txBody>
      </p:sp>
      <p:sp>
        <p:nvSpPr>
          <p:cNvPr id="11" name="Text 9"/>
          <p:cNvSpPr/>
          <p:nvPr/>
        </p:nvSpPr>
        <p:spPr>
          <a:xfrm>
            <a:off x="8595360" y="1828800"/>
            <a:ext cx="1965960" cy="320040"/>
          </a:xfrm>
          <a:prstGeom prst="rect">
            <a:avLst/>
          </a:prstGeom>
          <a:solidFill>
            <a:srgbClr val="FFFFFF"/>
          </a:solidFill>
          <a:ln>
            <a:solidFill>
              <a:srgbClr val="7C3AED">
                <a:alpha val="60000"/>
              </a:srgbClr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220"/>
                </a:solidFill>
              </a:rPr>
              <a:t>Infrastructure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641080" y="2286000"/>
            <a:ext cx="1874520" cy="50292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70" dirty="0">
                <a:solidFill>
                  <a:srgbClr val="475569"/>
                </a:solidFill>
              </a:rPr>
              <a:t>Environments and provisioning</a:t>
            </a:r>
            <a:endParaRPr lang="en-US" sz="870" dirty="0"/>
          </a:p>
        </p:txBody>
      </p:sp>
      <p:sp>
        <p:nvSpPr>
          <p:cNvPr id="13" name="Text 11"/>
          <p:cNvSpPr/>
          <p:nvPr/>
        </p:nvSpPr>
        <p:spPr>
          <a:xfrm>
            <a:off x="4434840" y="4297680"/>
            <a:ext cx="1965960" cy="320040"/>
          </a:xfrm>
          <a:prstGeom prst="rect">
            <a:avLst/>
          </a:prstGeom>
          <a:solidFill>
            <a:srgbClr val="FFFFFF"/>
          </a:solidFill>
          <a:ln>
            <a:solidFill>
              <a:srgbClr val="0B1220">
                <a:alpha val="60000"/>
              </a:srgbClr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220"/>
                </a:solidFill>
              </a:rPr>
              <a:t>Program Lead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480560" y="4754880"/>
            <a:ext cx="1874520" cy="50292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70" dirty="0">
                <a:solidFill>
                  <a:srgbClr val="475569"/>
                </a:solidFill>
              </a:rPr>
              <a:t>Cadence, decisions, risks, alignment</a:t>
            </a:r>
            <a:endParaRPr lang="en-US" sz="870" dirty="0"/>
          </a:p>
        </p:txBody>
      </p:sp>
      <p:sp>
        <p:nvSpPr>
          <p:cNvPr id="15" name="Text 13"/>
          <p:cNvSpPr/>
          <p:nvPr/>
        </p:nvSpPr>
        <p:spPr>
          <a:xfrm>
            <a:off x="1097280" y="5623560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0B1220"/>
                </a:solidFill>
              </a:rPr>
              <a:t>Weekly reviews focus on unblocking cross-team work, not re-statusing every task.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502920" y="6510528"/>
            <a:ext cx="6217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Sanitized GitHub work sample • Confidential details removed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11155680" y="6510528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6</a:t>
            </a:r>
            <a:endParaRPr lang="en-US" sz="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2563EB"/>
                </a:solidFill>
              </a:rPr>
              <a:t>RELEASE KICKOFF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02920" y="585216"/>
            <a:ext cx="8686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B1220"/>
                </a:solidFill>
              </a:rPr>
              <a:t>Risk Themes &amp; Mitigations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115568"/>
            <a:ext cx="111556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371600"/>
            <a:ext cx="2377440" cy="320040"/>
          </a:xfrm>
          <a:prstGeom prst="rect">
            <a:avLst/>
          </a:prstGeom>
          <a:solidFill>
            <a:srgbClr val="DBEAFE"/>
          </a:solidFill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1220"/>
                </a:solidFill>
              </a:rPr>
              <a:t>Risk Theme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566160" y="1371600"/>
            <a:ext cx="3474720" cy="320040"/>
          </a:xfrm>
          <a:prstGeom prst="rect">
            <a:avLst/>
          </a:prstGeom>
          <a:solidFill>
            <a:srgbClr val="DBEAFE"/>
          </a:solidFill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1220"/>
                </a:solidFill>
              </a:rPr>
              <a:t>Why it matters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452360" y="1371600"/>
            <a:ext cx="3474720" cy="320040"/>
          </a:xfrm>
          <a:prstGeom prst="rect">
            <a:avLst/>
          </a:prstGeom>
          <a:solidFill>
            <a:srgbClr val="DBEAFE"/>
          </a:solidFill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1220"/>
                </a:solidFill>
              </a:rPr>
              <a:t>Mitigation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77240" y="1874520"/>
            <a:ext cx="2377440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0B1220"/>
                </a:solidFill>
              </a:rPr>
              <a:t>Environment readiness</a:t>
            </a:r>
            <a:endParaRPr lang="en-US" sz="920" dirty="0"/>
          </a:p>
        </p:txBody>
      </p:sp>
      <p:sp>
        <p:nvSpPr>
          <p:cNvPr id="9" name="Text 7"/>
          <p:cNvSpPr/>
          <p:nvPr/>
        </p:nvSpPr>
        <p:spPr>
          <a:xfrm>
            <a:off x="3566160" y="1874520"/>
            <a:ext cx="3474720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475569"/>
                </a:solidFill>
              </a:rPr>
              <a:t>Provisioning, networking, or test data not available when feature teams need it.</a:t>
            </a:r>
            <a:endParaRPr lang="en-US" sz="920" dirty="0"/>
          </a:p>
        </p:txBody>
      </p:sp>
      <p:sp>
        <p:nvSpPr>
          <p:cNvPr id="10" name="Text 8"/>
          <p:cNvSpPr/>
          <p:nvPr/>
        </p:nvSpPr>
        <p:spPr>
          <a:xfrm>
            <a:off x="7452360" y="1874520"/>
            <a:ext cx="3474720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475569"/>
                </a:solidFill>
              </a:rPr>
              <a:t>Track as gated dependency with named owner and target date.</a:t>
            </a:r>
            <a:endParaRPr lang="en-US" sz="920" dirty="0"/>
          </a:p>
        </p:txBody>
      </p:sp>
      <p:sp>
        <p:nvSpPr>
          <p:cNvPr id="11" name="Shape 9"/>
          <p:cNvSpPr/>
          <p:nvPr/>
        </p:nvSpPr>
        <p:spPr>
          <a:xfrm>
            <a:off x="777240" y="2514600"/>
            <a:ext cx="1014984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2697480"/>
            <a:ext cx="2377440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0B1220"/>
                </a:solidFill>
              </a:rPr>
              <a:t>Unclear scope</a:t>
            </a:r>
            <a:endParaRPr lang="en-US" sz="920" dirty="0"/>
          </a:p>
        </p:txBody>
      </p:sp>
      <p:sp>
        <p:nvSpPr>
          <p:cNvPr id="13" name="Text 11"/>
          <p:cNvSpPr/>
          <p:nvPr/>
        </p:nvSpPr>
        <p:spPr>
          <a:xfrm>
            <a:off x="3566160" y="2697480"/>
            <a:ext cx="3474720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475569"/>
                </a:solidFill>
              </a:rPr>
              <a:t>Feature boundaries or acceptance criteria not fully decomposed.</a:t>
            </a:r>
            <a:endParaRPr lang="en-US" sz="920" dirty="0"/>
          </a:p>
        </p:txBody>
      </p:sp>
      <p:sp>
        <p:nvSpPr>
          <p:cNvPr id="14" name="Text 12"/>
          <p:cNvSpPr/>
          <p:nvPr/>
        </p:nvSpPr>
        <p:spPr>
          <a:xfrm>
            <a:off x="7452360" y="2697480"/>
            <a:ext cx="3474720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475569"/>
                </a:solidFill>
              </a:rPr>
              <a:t>Require epics/stories before execution gate.</a:t>
            </a:r>
            <a:endParaRPr lang="en-US" sz="920" dirty="0"/>
          </a:p>
        </p:txBody>
      </p:sp>
      <p:sp>
        <p:nvSpPr>
          <p:cNvPr id="15" name="Shape 13"/>
          <p:cNvSpPr/>
          <p:nvPr/>
        </p:nvSpPr>
        <p:spPr>
          <a:xfrm>
            <a:off x="777240" y="3337560"/>
            <a:ext cx="1014984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7240" y="3520440"/>
            <a:ext cx="2377440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0B1220"/>
                </a:solidFill>
              </a:rPr>
              <a:t>Performance uncertainty</a:t>
            </a:r>
            <a:endParaRPr lang="en-US" sz="920" dirty="0"/>
          </a:p>
        </p:txBody>
      </p:sp>
      <p:sp>
        <p:nvSpPr>
          <p:cNvPr id="17" name="Text 15"/>
          <p:cNvSpPr/>
          <p:nvPr/>
        </p:nvSpPr>
        <p:spPr>
          <a:xfrm>
            <a:off x="3566160" y="3520440"/>
            <a:ext cx="3474720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475569"/>
                </a:solidFill>
              </a:rPr>
              <a:t>New architecture or scale assumptions are unproven.</a:t>
            </a:r>
            <a:endParaRPr lang="en-US" sz="920" dirty="0"/>
          </a:p>
        </p:txBody>
      </p:sp>
      <p:sp>
        <p:nvSpPr>
          <p:cNvPr id="18" name="Text 16"/>
          <p:cNvSpPr/>
          <p:nvPr/>
        </p:nvSpPr>
        <p:spPr>
          <a:xfrm>
            <a:off x="7452360" y="3520440"/>
            <a:ext cx="3474720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475569"/>
                </a:solidFill>
              </a:rPr>
              <a:t>Time-box POC and define pass/fail metrics early.</a:t>
            </a:r>
            <a:endParaRPr lang="en-US" sz="920" dirty="0"/>
          </a:p>
        </p:txBody>
      </p:sp>
      <p:sp>
        <p:nvSpPr>
          <p:cNvPr id="19" name="Shape 17"/>
          <p:cNvSpPr/>
          <p:nvPr/>
        </p:nvSpPr>
        <p:spPr>
          <a:xfrm>
            <a:off x="777240" y="4160520"/>
            <a:ext cx="1014984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77240" y="4343400"/>
            <a:ext cx="2377440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0B1220"/>
                </a:solidFill>
              </a:rPr>
              <a:t>Cross-branch churn</a:t>
            </a:r>
            <a:endParaRPr lang="en-US" sz="920" dirty="0"/>
          </a:p>
        </p:txBody>
      </p:sp>
      <p:sp>
        <p:nvSpPr>
          <p:cNvPr id="21" name="Text 19"/>
          <p:cNvSpPr/>
          <p:nvPr/>
        </p:nvSpPr>
        <p:spPr>
          <a:xfrm>
            <a:off x="3566160" y="4343400"/>
            <a:ext cx="3474720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475569"/>
                </a:solidFill>
              </a:rPr>
              <a:t>Prior release changes need merge-forward discipline.</a:t>
            </a:r>
            <a:endParaRPr lang="en-US" sz="920" dirty="0"/>
          </a:p>
        </p:txBody>
      </p:sp>
      <p:sp>
        <p:nvSpPr>
          <p:cNvPr id="22" name="Text 20"/>
          <p:cNvSpPr/>
          <p:nvPr/>
        </p:nvSpPr>
        <p:spPr>
          <a:xfrm>
            <a:off x="7452360" y="4343400"/>
            <a:ext cx="3474720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475569"/>
                </a:solidFill>
              </a:rPr>
              <a:t>Freeze criteria, merge checklist, and smoke-test evidence.</a:t>
            </a:r>
            <a:endParaRPr lang="en-US" sz="920" dirty="0"/>
          </a:p>
        </p:txBody>
      </p:sp>
      <p:sp>
        <p:nvSpPr>
          <p:cNvPr id="23" name="Shape 21"/>
          <p:cNvSpPr/>
          <p:nvPr/>
        </p:nvSpPr>
        <p:spPr>
          <a:xfrm>
            <a:off x="777240" y="4983480"/>
            <a:ext cx="1014984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2920" y="6510528"/>
            <a:ext cx="6217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Sanitized GitHub work sample • Confidential details removed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11155680" y="6510528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7</a:t>
            </a:r>
            <a:endParaRPr lang="en-US" sz="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2563EB"/>
                </a:solidFill>
              </a:rPr>
              <a:t>RELEASE KICKOFF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02920" y="585216"/>
            <a:ext cx="8686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B1220"/>
                </a:solidFill>
              </a:rPr>
              <a:t>Branching &amp; Build Governance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115568"/>
            <a:ext cx="111556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463040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B1220"/>
                </a:solidFill>
              </a:rPr>
              <a:t>Before release branch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2960" y="1883664"/>
            <a:ext cx="4754880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• All release work stays on team / feature branches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• Previous release stories and defects are closed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• Two consecutive successful smoke-tested builds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822960" y="3328416"/>
            <a:ext cx="4754880" cy="0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0" y="1463040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B1220"/>
                </a:solidFill>
              </a:rPr>
              <a:t>After release branch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0" y="1883664"/>
            <a:ext cx="4754880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• Merge prior release changes forward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• Merge completed feature work into release branch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• Create installable builds from supported tooling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• Share issues through the agreed escalation path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400800" y="3328416"/>
            <a:ext cx="4754880" cy="0"/>
          </a:xfrm>
          <a:prstGeom prst="line">
            <a:avLst/>
          </a:prstGeom>
          <a:noFill/>
          <a:ln w="25400">
            <a:solidFill>
              <a:srgbClr val="10B98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920240" y="4572000"/>
            <a:ext cx="8138160" cy="0"/>
          </a:xfrm>
          <a:prstGeom prst="line">
            <a:avLst/>
          </a:prstGeom>
          <a:noFill/>
          <a:ln w="25400">
            <a:solidFill>
              <a:srgbClr val="CBD5E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14400" y="4370832"/>
            <a:ext cx="411480" cy="41148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4956048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B1220"/>
                </a:solidFill>
              </a:rPr>
              <a:t>Feature Branches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3246120" y="4370832"/>
            <a:ext cx="411480" cy="41148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926080" y="4956048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B1220"/>
                </a:solidFill>
              </a:rPr>
              <a:t>Release Branch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5577840" y="4370832"/>
            <a:ext cx="411480" cy="41148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257800" y="4956048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B1220"/>
                </a:solidFill>
              </a:rPr>
              <a:t>Nightly Build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7909560" y="4370832"/>
            <a:ext cx="411480" cy="41148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589520" y="4956048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B1220"/>
                </a:solidFill>
              </a:rPr>
              <a:t>Smoke Test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10241280" y="4370832"/>
            <a:ext cx="411480" cy="411480"/>
          </a:xfrm>
          <a:prstGeom prst="ellipse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921240" y="4956048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B1220"/>
                </a:solidFill>
              </a:rPr>
              <a:t>Distribution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502920" y="6510528"/>
            <a:ext cx="6217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Sanitized GitHub work sample • Confidential details removed</a:t>
            </a: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11155680" y="6510528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8</a:t>
            </a:r>
            <a:endParaRPr lang="en-US" sz="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2563EB"/>
                </a:solidFill>
              </a:rPr>
              <a:t>RELEASE KICKOFF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02920" y="585216"/>
            <a:ext cx="8686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B1220"/>
                </a:solidFill>
              </a:rPr>
              <a:t>Decisions Needed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115568"/>
            <a:ext cx="111556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463040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</a:rPr>
              <a:t>01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417320" y="14630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B1220"/>
                </a:solidFill>
              </a:rPr>
              <a:t>Scope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474720" y="1463040"/>
            <a:ext cx="7223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</a:rPr>
              <a:t>Which deliverables are committed for the release versus candidates?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822960" y="2029968"/>
            <a:ext cx="1024128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468880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</a:rPr>
              <a:t>02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417320" y="246888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B1220"/>
                </a:solidFill>
              </a:rPr>
              <a:t>Readiness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474720" y="2468880"/>
            <a:ext cx="7223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</a:rPr>
              <a:t>What evidence is required to exit each quality gate?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22960" y="3035808"/>
            <a:ext cx="1024128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3474720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</a:rPr>
              <a:t>03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417320" y="347472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B1220"/>
                </a:solidFill>
              </a:rPr>
              <a:t>Dependency Owners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474720" y="3474720"/>
            <a:ext cx="7223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</a:rPr>
              <a:t>Who owns environment, appliance, license, data, and provisioning blockers?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22960" y="4041648"/>
            <a:ext cx="1024128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4480560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</a:rPr>
              <a:t>04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417320" y="44805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B1220"/>
                </a:solidFill>
              </a:rPr>
              <a:t>Escalation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474720" y="4480560"/>
            <a:ext cx="7223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</a:rPr>
              <a:t>What decisions need leadership attention before execution starts?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22960" y="5047488"/>
            <a:ext cx="1024128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2960" y="5806440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0B1220"/>
                </a:solidFill>
              </a:rPr>
              <a:t>Outcome: a shared release plan with clear owners, visible risks, and agreed gate criteria.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02920" y="6510528"/>
            <a:ext cx="6217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Sanitized GitHub work sample • Confidential details removed</a:t>
            </a: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11155680" y="6510528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9</a:t>
            </a:r>
            <a:endParaRPr lang="en-US" sz="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2563EB"/>
                </a:solidFill>
              </a:rPr>
              <a:t>WRAP-UP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02920" y="585216"/>
            <a:ext cx="8686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B1220"/>
                </a:solidFill>
              </a:rPr>
              <a:t>Next Steps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115568"/>
            <a:ext cx="111556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508760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B1220"/>
                </a:solidFill>
              </a:rPr>
              <a:t>Post-kickoff actions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2960" y="1929384"/>
            <a:ext cx="4937760" cy="1819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• Publish action log and decision summary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• Confirm owners for dependencies and risks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• Update roadmap / release tracker with agreed scope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• Schedule targeted follow-ups only where needed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822960" y="3785616"/>
            <a:ext cx="4937760" cy="0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0" y="1508760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B1220"/>
                </a:solidFill>
              </a:rPr>
              <a:t>GitHub usage notes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0" y="1929384"/>
            <a:ext cx="4937760" cy="1819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• Use as a portfolio-safe example of release orchestration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• Keep company, customer, and internal system names out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• Replace sample dates and workstreams as needed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• Export PDF copy for easier preview in repos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400800" y="3785616"/>
            <a:ext cx="4937760" cy="0"/>
          </a:xfrm>
          <a:prstGeom prst="line">
            <a:avLst/>
          </a:prstGeom>
          <a:noFill/>
          <a:ln w="25400">
            <a:solidFill>
              <a:srgbClr val="10B98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507492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B1220"/>
                </a:solidFill>
              </a:rPr>
              <a:t>Questions &amp; Discussion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502920" y="6510528"/>
            <a:ext cx="6217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Sanitized GitHub work sample • Confidential details removed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11155680" y="6510528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10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Release Kickoff — Sanitized Work Sample</dc:title>
  <dc:subject>Sanitized release kickoff work sample</dc:subject>
  <dc:creator>OpenAI</dc:creator>
  <cp:lastModifiedBy>OpenAI</cp:lastModifiedBy>
  <cp:revision>1</cp:revision>
  <dcterms:created xsi:type="dcterms:W3CDTF">2026-06-25T21:48:23Z</dcterms:created>
  <dcterms:modified xsi:type="dcterms:W3CDTF">2026-06-25T21:48:23Z</dcterms:modified>
</cp:coreProperties>
</file>